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e002439a-2ed1-1a3a-89a1-4aedbb52090c}">
          <p14:sldIdLst>
            <p14:sldId id="256"/>
            <p14:sldId id="257"/>
            <p14:sldId id="258"/>
            <p14:sldId id="259"/>
          </p14:sldIdLst>
        </p14:section>
        <p14:section name="Parte 1 · O problema" id="{42ec384c-8dfc-c3dc-c29a-3a605eaecb3c}">
          <p14:sldIdLst>
            <p14:sldId id="260"/>
            <p14:sldId id="261"/>
            <p14:sldId id="262"/>
            <p14:sldId id="263"/>
            <p14:sldId id="264"/>
          </p14:sldIdLst>
        </p14:section>
        <p14:section name="Parte 2 · As 5 peças" id="{a4b0b0c1-04ce-0d21-f67f-5268589ca291}">
          <p14:sldIdLst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</p14:sldIdLst>
        </p14:section>
        <p14:section name="Parte 3 · No nosso lab" id="{de379553-ac53-1fd4-f89a-83db5a960442}">
          <p14:sldIdLst>
            <p14:sldId id="276"/>
            <p14:sldId id="277"/>
            <p14:sldId id="278"/>
            <p14:sldId id="279"/>
          </p14:sldIdLst>
        </p14:section>
        <p14:section name="Parte 4 · Armadilhas" id="{a84aa76f-5cd2-77e4-3902-4b21eec4351d}">
          <p14:sldIdLst>
            <p14:sldId id="280"/>
            <p14:sldId id="281"/>
            <p14:sldId id="282"/>
            <p14:sldId id="283"/>
          </p14:sldIdLst>
        </p14:section>
        <p14:section name="Parte 5 · Decidir e praticar" id="{3fc48073-5a22-2528-2ea4-f6c579f446a5}">
          <p14:sldIdLst>
            <p14:sldId id="284"/>
            <p14:sldId id="285"/>
            <p14:sldId id="286"/>
            <p14:sldId id="287"/>
            <p14:sldId id="288"/>
            <p14:sldId id="289"/>
            <p14:sldId id="29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Boas-vindas. Objetivo da sessão: sair daqui sabendo ler e escrever uma query GraphQL e entendendo POR QUE ela existe. Nada de pré-requisito além de saber o que é uma API REST. Avise que vamos usar um laboratório real (docker compose) e que todo exemplo dos slides pode ser rodado por eles.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o roteiro e os tempos (total ~75 min). Peça que todos já deixem o lab subindo em segundo plano com docker compose up -d (a primeira vez baixa imagens). Combine que perguntas podem interromper a qualquer momento.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Apresente as três peças do lab. Ponto-chave para júnior: quem fala GraphQL é o Vue com o Hasura; o Postgres continua falando SQL como sempre. O Hasura é o "tradutor". O seeder é só um script que enche o banco de dados de mentira. Mostre no navegador as duas URLs.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 "1:N" = um para muitos: um usuário tem muitos posts; um post tem muitos comentários. As setas → nas colunas são chaves estrangeiras (foreign keys). Estes são os dados reais do lab (gerados pelo seeder com seed fixa). Pergunta à turma: "se eu quiser mostrar o perfil de um usuário com seus posts e os comentários de cada post, quantas tabelas preciso tocar?" Resposta: as três.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Antes de aprender a solução, vamos sentir a dor. Vamos construir uma tela de perfil usando REST e contar quantas viagens ao servidor ela custa.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a analogia durante o workshop inteiro. No restaurante à la carte o garçom traz o prato que está no cardápio; se você não quer o arroz, ele vem mesmo assim. No buffet você monta o prato. GraphQL é o buffet: UM balcão (um endpoint) e você escolhe os campos. Frase para fixar: "quem manda no formato da resposta?"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Essa é a tela real do app Vue do lab (UserView). Dê 30 segundos para a turma chutar quantas chamadas REST são necessárias antes de avançar. Anote os palpites no quadro. Dica: pense em "quantos recursos diferentes aparecem na tela".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Leia a cascata da esquerda para a direita: a barra 2 só começa quando a 1 termina, porque o /posts precisa do id do usuário; as três de comentários só começam depois da 2, porque precisam dos ids dos posts (mas podem rodar em paralelo entre si). São 5 chamadas em 3 rodadas. Os 200 ms são um exemplo para ilustrar, não uma medição. Vocabulário novo: UNDERFETCHING = veio de menos, então você volta para pedir mais. Em rede móvel cada rodada pesa muito.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tela do perfil só mostra name e bio no topo, mas o endpoint devolve tudo. Vocabulário: OVERFETCHING = veio demais. Os dois problemas (under e over) são faces da mesma moeda: o formato da resposta é decidido por quem NÃO conhece a tela. Pergunta para a turma: "quem aqui já precisou pedir um endpoint novo ao backend só para uma tela?"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Agora a solução. Vamos aprender vocabulário (com a analogia do restaurante) e depois as cinco peças, uma a uma, sempre rodando no lab.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slide é a cola do workshop: volte nele sempre que alguém se perder. Deixe a turma ler. Frase mágica: "o schema é o cardápio, a query é o pedido, o resolver é o cozinheiro". Se alguém perguntar "e o Hasura?": ele é o restaurante que monta o cardápio sozinho olhando a despensa (o Postgres).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momento "aha" do workshop. Aponte as linhas coloridas: name→"name", posts→"posts", title→"title". A forma do JSON de volta é idêntica à forma da pergunta. Isso resolve o overfetching (só veio name e title) e o underfetching (veio o aninhado numa só viagem). Cole essa query no Console do Hasura (aba API) e rode ao vivo.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SDL = Schema Definition Language. Em outros projetos o time escreve o schema à mão; aqui o Hasura gera. Insista nos três símbolos: ! (obrigatório), ausência de ! (pode ser null), [ ] (lista). Esses símbolos evitam o clássico "undefined is not an object" no front. Abra o Docs do Console e deixe a turma navegar 1 minuto.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Dissecar a query com as cores: cada cor é um papel. Frase para júnior: "a query é um JSON sem valores". Mostre que aninhar posts dentro de users é como seguir uma chave estrangeira. Rode ao vivo trocando o id e adicionando campos (email, created_at) e observe a resposta crescer.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é o erro mais comum de iniciantes: montar a query com template string. Mostre no UserView.vue do lab como é feito certo. Analogia: o pedido é sempre "um prato com $acompanhamento" e só o acompanhamento muda. A mensagem em vermelho é real: vem do Hasura quando faltou a variável.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Mutation = tudo que altera dados. O truque: depois de escrever, a mutation também devolve dados (aqui id e title), então o front já sabe o que foi criado sem precisar de outra viagem. No lab, o botão "Publicar" do app Vue (UserView.vue, função addPost) dispara exatamente essa mutation. Peça para alguém criar um post pelo Console e conferir no app.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Peça mais conceitual. Resolver = função que, dado o pai (user), devolve o filho (posts). Em servidores como Apollo/Yoga você escreve; no Hasura ele gera. Não se aprofunde: a ideia é só plantar a semente para o N+1 mais adiante.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slide fecha o ciclo aberto na Parte 1. As mesmas 3 camadas (usuário → posts → comentários) que custaram 5 chamadas REST agora cabem em uma query. Mostre a árvore: cada círculo é um objeto na resposta (P1, P2, P3 são os três posts; os círculos verdes são os 5 comentários: 1, 3 e 1). Rode no Console e mostre o JSON. Note também `user { name }` dentro de comments: o nome de quem comentou veio junto.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Uma tabela de tradução "o que eu quero → o que escrevo". É exatamente o que a tela de usuários do lab faz (busca, ordenação, paginação). Aviso importante: esses nomes (where, _ilike, order_by) são convenção do Hasura. Em outro servidor GraphQL os argumentos podem se chamar diferente. O que é universal é a forma: campo(argumento: valor).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a imagem real do app do lab (porta 8081). O círculo rosa marca o badge "4 posts": ele vem de posts_aggregate { aggregate { count } }. Ponto didático: contar é trabalho do banco, não do front. Em REST isso normalmente vira mais um endpoint (ou o front baixa tudo e faz .length).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Agora juntamos tudo: o que acontece, passo a passo, quando alguém abre a página de um usuário no app Vue.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Percorra os 6 passos em ordem. Se der, abra a aba Network do navegador (F12) em localhost:8081/users/2 e mostre UMA requisição POST para graphql com a query no corpo e o JSON na resposta. O passo 3 é importante: a role "public" é uma configuração do lab que permite leitura e escrita sem login.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Desmistifique: GraphQL não exige biblioteca nenhuma. É um POST com JSON. Este é (quase) o arquivo real web/src/lib/graphql.js do lab. Os badges numerados marcam as linhas explicadas na coluna da direita. Convide a turma a abrir o arquivo no editor e comparar.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SQL mostrado é uma versão simplificada para ensinar; o SQL real do Hasura usa LATERAL JOIN e row_to_json (clique em Analyze no Console para ver). O ponto importante: não importa quantos níveis você aninhe, o Hasura monta UMA consulta. Isso é o que nos protege do N+1 do próximo bloco.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Três assuntos: erros que chegam com HTTP 200, o problema N+1 e o que muda para ir à produção.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Armadilha clássica: o fetch não lança erro porque o HTTP é 200, mas a resposta traz "errors". É por isso que o gql() do lab confere json.errors. Peça para a turma provocar o erro no Console digitando um campo errado (nome em vez de name) e lendo a mensagem: ela diz exatamente o que está errado.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N+1 = 1 consulta para a lista e N consultas, uma por item. Com 10 usuários são 11 idas ao banco; com 1000 usuários seriam 1001. A cura é agrupar (batching): buscar os posts de todos os usuários de uma vez. O Hasura já faz isso por construção (viu o JOIN LATERAL?). Em servidores próprios, a biblioteca DataLoader resolve.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Quatro avisos práticos. O segundo é o mais crítico: o lab é PROPOSITALMENTE aberto (role public com CRUD completo) para facilitar o aprendizado. Nunca copie essa configuração para produção. Se sobrar tempo, mostre onde isso está configurado: hasura/metadata/databases/default/tables/*.yaml.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Fechamento: comparação honesta entre REST e GraphQL e os desafios práticos no lab.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Tabela de consulta, não precisa ler tudo. Peça que a turma encontre sozinha a linha que mais pesa para o projeto deles. Mensagem equilibrada: GraphQL não é "melhor", troca complexidade do cliente por complexidade do servidor.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Fechamento da comparação. BFF = Backend For Frontend: uma camada GraphQL na frente que agrega serviços REST/SQL por trás. Se alguém perguntar "então devo migrar tudo?": não. Comece por uma tela que sofre de under/overfetching.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Dê ~15 minutos. Circule pelas mesas. Gabaritos: (1) users(limit:5){name}; (2) users_by_pk(id:7){name posts{title}}; (3) users(order_by:{posts_aggregate:{count:desc}}, limit:3){name posts_aggregate{aggregate{count}}}; (4) mutation insert_posts_one com user_id, title e body; (5) posts_by_pk(id:4){title comments{body user{name}}}. O Playground do Vue (/playground) já traz a query do desafio 3 como exemplo.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Deixe 2 minutos em duplas. Depois vá ao próximo slide para as respostas. Se a turma estiver cansada, faça oralmente.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Corrija junto com a turma. Se alguém errou a 3, volte ao slide "Erro nem sempre é 404".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Recapitule em uma frase cada: (1) REST pode custar várias viagens e trazer coisa demais; (2) GraphQL deixa o cliente pedir o formato; (3) as 5 peças: schema, query, variável, mutation, resolver; (4) cuidado com erros em HTTP 200, N+1 e permissões. Agradeça e abra para perguntas.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TITLE-image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SECTION-image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CONTENT-image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48840"/>
            <a:ext cx="603504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4069080"/>
            <a:ext cx="56692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2103120"/>
            <a:ext cx="64008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b="1" spc="400" kern="0" dirty="0">
                <a:solidFill>
                  <a:schemeClr val="accent2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2514600"/>
            <a:ext cx="749808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794760"/>
            <a:ext cx="65836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graphqlab · GraphQL na prática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858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858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image" Target="../media/image-22-6.png"/><Relationship Id="rId7" Type="http://schemas.openxmlformats.org/officeDocument/2006/relationships/image" Target="../media/image-22-7.png"/><Relationship Id="rId8" Type="http://schemas.openxmlformats.org/officeDocument/2006/relationships/slideLayout" Target="../slideLayouts/slideLayout4.xml"/><Relationship Id="rId9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lustração decorativa de um grafo brilhan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>
            <p:ph idx="100" type="title" hasCustomPrompt="1"/>
          </p:nvPr>
        </p:nvSpPr>
        <p:spPr>
          <a:xfrm>
            <a:off x="731520" y="2148840"/>
            <a:ext cx="6035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tx1"/>
                </a:solidFill>
              </a:rPr>
              <a:t>GraphQL na prática</a:t>
            </a:r>
            <a:endParaRPr lang="en-US" sz="5400" dirty="0"/>
          </a:p>
        </p:txBody>
      </p:sp>
      <p:sp>
        <p:nvSpPr>
          <p:cNvPr id="4" name="Text 0"/>
          <p:cNvSpPr txBox="1"/>
          <p:nvPr>
            <p:ph idx="101" type="body" hasCustomPrompt="1"/>
          </p:nvPr>
        </p:nvSpPr>
        <p:spPr>
          <a:xfrm>
            <a:off x="731520" y="4069080"/>
            <a:ext cx="5669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Pedindo exatamente o que você precisa, com Postgres, Hasura e Vue</a:t>
            </a:r>
            <a:endParaRPr lang="en-US" sz="2000" dirty="0"/>
          </a:p>
        </p:txBody>
      </p:sp>
      <p:sp>
        <p:nvSpPr>
          <p:cNvPr id="5" name="pill"/>
          <p:cNvSpPr/>
          <p:nvPr/>
        </p:nvSpPr>
        <p:spPr>
          <a:xfrm>
            <a:off x="731520" y="1600200"/>
            <a:ext cx="3840480" cy="310896"/>
          </a:xfrm>
          <a:prstGeom prst="roundRect">
            <a:avLst>
              <a:gd name="adj" fmla="val 50000"/>
            </a:avLst>
          </a:prstGeom>
          <a:solidFill>
            <a:schemeClr val="accent3">
              <a:alpha val="20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160020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WORKSHOP PARA QUEM ESTÁ COMEÇANDO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 txBox="1"/>
          <p:nvPr>
            <p:ph idx="101" type="title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O que vamos fazer hoje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3"/>
                </a:solidFill>
              </a:rPr>
              <a:t>ROTEIRO</a:t>
            </a:r>
            <a:endParaRPr lang="en-US" sz="1200" dirty="0"/>
          </a:p>
        </p:txBody>
      </p:sp>
      <p:pic>
        <p:nvPicPr>
          <p:cNvPr id="4" name="Image 0" descr="Linha do tempo com cinco etapa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icon-bg"/>
          <p:cNvSpPr/>
          <p:nvPr/>
        </p:nvSpPr>
        <p:spPr>
          <a:xfrm>
            <a:off x="1143000" y="1737360"/>
            <a:ext cx="822960" cy="822960"/>
          </a:xfrm>
          <a:prstGeom prst="ellipse">
            <a:avLst/>
          </a:prstGeom>
          <a:solidFill>
            <a:schemeClr val="accent2">
              <a:alpha val="20000"/>
            </a:schemeClr>
          </a:solidFill>
          <a:ln w="12700">
            <a:solidFill>
              <a:schemeClr val="accent2">
                <a:alpha val="60000"/>
              </a:schemeClr>
            </a:solidFill>
            <a:prstDash val="solid"/>
          </a:ln>
        </p:spPr>
      </p:sp>
      <p:pic>
        <p:nvPicPr>
          <p:cNvPr id="6" name="Image 1" descr="Route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8740" y="1943100"/>
            <a:ext cx="411480" cy="41148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8640" y="29260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O problema</a:t>
            </a:r>
            <a:endParaRPr lang="en-US" sz="24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342900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Por que o REST cansa em telas complexas</a:t>
            </a:r>
            <a:endParaRPr lang="en-US" sz="1600" dirty="0"/>
          </a:p>
        </p:txBody>
      </p:sp>
      <p:sp>
        <p:nvSpPr>
          <p:cNvPr id="9" name="pill"/>
          <p:cNvSpPr/>
          <p:nvPr/>
        </p:nvSpPr>
        <p:spPr>
          <a:xfrm>
            <a:off x="1005840" y="4434840"/>
            <a:ext cx="1097280" cy="329184"/>
          </a:xfrm>
          <a:prstGeom prst="roundRect">
            <a:avLst>
              <a:gd name="adj" fmla="val 47222"/>
            </a:avLst>
          </a:prstGeom>
          <a:solidFill>
            <a:schemeClr val="accent6">
              <a:alpha val="20000"/>
            </a:schemeClr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1005840" y="443484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10 min</a:t>
            </a:r>
            <a:endParaRPr lang="en-US" sz="1400" dirty="0"/>
          </a:p>
        </p:txBody>
      </p:sp>
      <p:sp>
        <p:nvSpPr>
          <p:cNvPr id="11" name="icon-bg"/>
          <p:cNvSpPr/>
          <p:nvPr/>
        </p:nvSpPr>
        <p:spPr>
          <a:xfrm>
            <a:off x="3337560" y="1737360"/>
            <a:ext cx="822960" cy="822960"/>
          </a:xfrm>
          <a:prstGeom prst="ellipse">
            <a:avLst/>
          </a:prstGeom>
          <a:solidFill>
            <a:schemeClr val="accent3">
              <a:alpha val="20000"/>
            </a:schemeClr>
          </a:solidFill>
          <a:ln w="12700">
            <a:solidFill>
              <a:schemeClr val="accent3">
                <a:alpha val="60000"/>
              </a:schemeClr>
            </a:solidFill>
            <a:prstDash val="solid"/>
          </a:ln>
        </p:spPr>
      </p:sp>
      <p:pic>
        <p:nvPicPr>
          <p:cNvPr id="12" name="Image 2" descr="Cubes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3300" y="1943100"/>
            <a:ext cx="411480" cy="41148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2743200" y="29260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5 peças</a:t>
            </a:r>
            <a:endParaRPr lang="en-US" sz="2400" dirty="0"/>
          </a:p>
        </p:txBody>
      </p:sp>
      <p:sp>
        <p:nvSpPr>
          <p:cNvPr id="14" name="Text 9"/>
          <p:cNvSpPr txBox="1"/>
          <p:nvPr/>
        </p:nvSpPr>
        <p:spPr>
          <a:xfrm>
            <a:off x="2743200" y="342900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Schema, Query, Variável, Mutation e Resolver</a:t>
            </a:r>
            <a:endParaRPr lang="en-US" sz="1600" dirty="0"/>
          </a:p>
        </p:txBody>
      </p:sp>
      <p:sp>
        <p:nvSpPr>
          <p:cNvPr id="15" name="pill"/>
          <p:cNvSpPr/>
          <p:nvPr/>
        </p:nvSpPr>
        <p:spPr>
          <a:xfrm>
            <a:off x="3200400" y="4434840"/>
            <a:ext cx="1097280" cy="329184"/>
          </a:xfrm>
          <a:prstGeom prst="roundRect">
            <a:avLst>
              <a:gd name="adj" fmla="val 47222"/>
            </a:avLst>
          </a:prstGeom>
          <a:solidFill>
            <a:schemeClr val="accent6">
              <a:alpha val="20000"/>
            </a:schemeClr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3200400" y="443484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25 min</a:t>
            </a:r>
            <a:endParaRPr lang="en-US" sz="1400" dirty="0"/>
          </a:p>
        </p:txBody>
      </p:sp>
      <p:sp>
        <p:nvSpPr>
          <p:cNvPr id="17" name="icon-bg"/>
          <p:cNvSpPr/>
          <p:nvPr/>
        </p:nvSpPr>
        <p:spPr>
          <a:xfrm>
            <a:off x="5532120" y="1737360"/>
            <a:ext cx="822960" cy="822960"/>
          </a:xfrm>
          <a:prstGeom prst="ellipse">
            <a:avLst/>
          </a:prstGeom>
          <a:solidFill>
            <a:schemeClr val="accent2">
              <a:alpha val="20000"/>
            </a:schemeClr>
          </a:solidFill>
          <a:ln w="12700">
            <a:solidFill>
              <a:schemeClr val="accent2">
                <a:alpha val="60000"/>
              </a:schemeClr>
            </a:solidFill>
            <a:prstDash val="solid"/>
          </a:ln>
        </p:spPr>
      </p:sp>
      <p:pic>
        <p:nvPicPr>
          <p:cNvPr id="18" name="Image 3" descr="Desktop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7860" y="1943100"/>
            <a:ext cx="411480" cy="41148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4937760" y="29260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No lab</a:t>
            </a:r>
            <a:endParaRPr lang="en-US" sz="2400" dirty="0"/>
          </a:p>
        </p:txBody>
      </p:sp>
      <p:sp>
        <p:nvSpPr>
          <p:cNvPr id="20" name="Text 14"/>
          <p:cNvSpPr txBox="1"/>
          <p:nvPr/>
        </p:nvSpPr>
        <p:spPr>
          <a:xfrm>
            <a:off x="4937760" y="342900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Do clique no Vue até o SQL no Postgres</a:t>
            </a:r>
            <a:endParaRPr lang="en-US" sz="1600" dirty="0"/>
          </a:p>
        </p:txBody>
      </p:sp>
      <p:sp>
        <p:nvSpPr>
          <p:cNvPr id="21" name="pill"/>
          <p:cNvSpPr/>
          <p:nvPr/>
        </p:nvSpPr>
        <p:spPr>
          <a:xfrm>
            <a:off x="5394960" y="4434840"/>
            <a:ext cx="1097280" cy="329184"/>
          </a:xfrm>
          <a:prstGeom prst="roundRect">
            <a:avLst>
              <a:gd name="adj" fmla="val 47222"/>
            </a:avLst>
          </a:prstGeom>
          <a:solidFill>
            <a:schemeClr val="accent6">
              <a:alpha val="20000"/>
            </a:schemeClr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5394960" y="443484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10 min</a:t>
            </a:r>
            <a:endParaRPr lang="en-US" sz="1400" dirty="0"/>
          </a:p>
        </p:txBody>
      </p:sp>
      <p:sp>
        <p:nvSpPr>
          <p:cNvPr id="23" name="icon-bg"/>
          <p:cNvSpPr/>
          <p:nvPr/>
        </p:nvSpPr>
        <p:spPr>
          <a:xfrm>
            <a:off x="7726680" y="1737360"/>
            <a:ext cx="822960" cy="822960"/>
          </a:xfrm>
          <a:prstGeom prst="ellipse">
            <a:avLst/>
          </a:prstGeom>
          <a:solidFill>
            <a:schemeClr val="accent3">
              <a:alpha val="20000"/>
            </a:schemeClr>
          </a:solidFill>
          <a:ln w="12700">
            <a:solidFill>
              <a:schemeClr val="accent3">
                <a:alpha val="60000"/>
              </a:schemeClr>
            </a:solidFill>
            <a:prstDash val="solid"/>
          </a:ln>
        </p:spPr>
      </p:sp>
      <p:pic>
        <p:nvPicPr>
          <p:cNvPr id="24" name="Image 4" descr="Bug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2420" y="1943100"/>
            <a:ext cx="411480" cy="41148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7132320" y="29260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Armadilhas</a:t>
            </a:r>
            <a:endParaRPr lang="en-US" sz="2400" dirty="0"/>
          </a:p>
        </p:txBody>
      </p:sp>
      <p:sp>
        <p:nvSpPr>
          <p:cNvPr id="26" name="Text 19"/>
          <p:cNvSpPr txBox="1"/>
          <p:nvPr/>
        </p:nvSpPr>
        <p:spPr>
          <a:xfrm>
            <a:off x="7132320" y="342900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Erros, N+1, cache e permissões</a:t>
            </a:r>
            <a:endParaRPr lang="en-US" sz="1600" dirty="0"/>
          </a:p>
        </p:txBody>
      </p:sp>
      <p:sp>
        <p:nvSpPr>
          <p:cNvPr id="27" name="pill"/>
          <p:cNvSpPr/>
          <p:nvPr/>
        </p:nvSpPr>
        <p:spPr>
          <a:xfrm>
            <a:off x="7589520" y="4434840"/>
            <a:ext cx="1097280" cy="329184"/>
          </a:xfrm>
          <a:prstGeom prst="roundRect">
            <a:avLst>
              <a:gd name="adj" fmla="val 47222"/>
            </a:avLst>
          </a:prstGeom>
          <a:solidFill>
            <a:schemeClr val="accent6">
              <a:alpha val="20000"/>
            </a:schemeClr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8" name="Text 21"/>
          <p:cNvSpPr txBox="1"/>
          <p:nvPr/>
        </p:nvSpPr>
        <p:spPr>
          <a:xfrm>
            <a:off x="7589520" y="443484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10 min</a:t>
            </a:r>
            <a:endParaRPr lang="en-US" sz="1400" dirty="0"/>
          </a:p>
        </p:txBody>
      </p:sp>
      <p:sp>
        <p:nvSpPr>
          <p:cNvPr id="29" name="icon-bg"/>
          <p:cNvSpPr/>
          <p:nvPr/>
        </p:nvSpPr>
        <p:spPr>
          <a:xfrm>
            <a:off x="9921240" y="1737360"/>
            <a:ext cx="822960" cy="822960"/>
          </a:xfrm>
          <a:prstGeom prst="ellipse">
            <a:avLst/>
          </a:prstGeom>
          <a:solidFill>
            <a:schemeClr val="accent2">
              <a:alpha val="20000"/>
            </a:schemeClr>
          </a:solidFill>
          <a:ln w="12700">
            <a:solidFill>
              <a:schemeClr val="accent2">
                <a:alpha val="60000"/>
              </a:schemeClr>
            </a:solidFill>
            <a:prstDash val="solid"/>
          </a:ln>
        </p:spPr>
      </p:sp>
      <p:pic>
        <p:nvPicPr>
          <p:cNvPr id="30" name="Image 5" descr="Flask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26980" y="1943100"/>
            <a:ext cx="411480" cy="41148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9326880" y="29260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Prática</a:t>
            </a:r>
            <a:endParaRPr lang="en-US" sz="2400" dirty="0"/>
          </a:p>
        </p:txBody>
      </p:sp>
      <p:sp>
        <p:nvSpPr>
          <p:cNvPr id="32" name="Text 24"/>
          <p:cNvSpPr txBox="1"/>
          <p:nvPr/>
        </p:nvSpPr>
        <p:spPr>
          <a:xfrm>
            <a:off x="9326880" y="342900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Desafios no seu próprio lab</a:t>
            </a:r>
            <a:endParaRPr lang="en-US" sz="1600" dirty="0"/>
          </a:p>
        </p:txBody>
      </p:sp>
      <p:sp>
        <p:nvSpPr>
          <p:cNvPr id="33" name="pill"/>
          <p:cNvSpPr/>
          <p:nvPr/>
        </p:nvSpPr>
        <p:spPr>
          <a:xfrm>
            <a:off x="9784080" y="4434840"/>
            <a:ext cx="1097280" cy="329184"/>
          </a:xfrm>
          <a:prstGeom prst="roundRect">
            <a:avLst>
              <a:gd name="adj" fmla="val 47222"/>
            </a:avLst>
          </a:prstGeom>
          <a:solidFill>
            <a:schemeClr val="accent6">
              <a:alpha val="20000"/>
            </a:schemeClr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34" name="Text 26"/>
          <p:cNvSpPr txBox="1"/>
          <p:nvPr/>
        </p:nvSpPr>
        <p:spPr>
          <a:xfrm>
            <a:off x="9784080" y="443484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20 min</a:t>
            </a:r>
            <a:endParaRPr lang="en-US" sz="1400" dirty="0"/>
          </a:p>
        </p:txBody>
      </p:sp>
      <p:sp>
        <p:nvSpPr>
          <p:cNvPr id="35" name="card"/>
          <p:cNvSpPr/>
          <p:nvPr/>
        </p:nvSpPr>
        <p:spPr>
          <a:xfrm>
            <a:off x="548640" y="5029200"/>
            <a:ext cx="11064240" cy="1234440"/>
          </a:xfrm>
          <a:prstGeom prst="roundRect">
            <a:avLst>
              <a:gd name="adj" fmla="val 8889"/>
            </a:avLst>
          </a:prstGeom>
          <a:solidFill>
            <a:schemeClr val="bg2">
              <a:alpha val="88000"/>
            </a:schemeClr>
          </a:solidFill>
          <a:ln w="22225">
            <a:solidFill>
              <a:schemeClr val="accent2">
                <a:alpha val="90000"/>
              </a:schemeClr>
            </a:solidFill>
            <a:prstDash val="solid"/>
          </a:ln>
        </p:spPr>
      </p:sp>
      <p:sp>
        <p:nvSpPr>
          <p:cNvPr id="36" name="Text 28"/>
          <p:cNvSpPr txBox="1"/>
          <p:nvPr/>
        </p:nvSpPr>
        <p:spPr>
          <a:xfrm>
            <a:off x="822960" y="5166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Combinado do workshop</a:t>
            </a:r>
            <a:endParaRPr lang="en-US" sz="2000" dirty="0"/>
          </a:p>
        </p:txBody>
      </p:sp>
      <p:sp>
        <p:nvSpPr>
          <p:cNvPr id="37" name="Text 29"/>
          <p:cNvSpPr txBox="1"/>
          <p:nvPr/>
        </p:nvSpPr>
        <p:spPr>
          <a:xfrm>
            <a:off x="822960" y="557784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Abra o lab ao lado e rode cada exemplo. Aprender GraphQL é 20% ouvir e 80% digitar.</a:t>
            </a:r>
            <a:endParaRPr lang="en-US" sz="1700" dirty="0"/>
          </a:p>
        </p:txBody>
      </p:sp>
      <p:sp>
        <p:nvSpPr>
          <p:cNvPr id="38" name="code-card"/>
          <p:cNvSpPr/>
          <p:nvPr/>
        </p:nvSpPr>
        <p:spPr>
          <a:xfrm>
            <a:off x="6949440" y="5212080"/>
            <a:ext cx="4389120" cy="953008"/>
          </a:xfrm>
          <a:prstGeom prst="roundRect">
            <a:avLst>
              <a:gd name="adj" fmla="val 11514"/>
            </a:avLst>
          </a:prstGeom>
          <a:solidFill>
            <a:schemeClr val="bg2">
              <a:alpha val="88000"/>
            </a:schemeClr>
          </a:solidFill>
          <a:ln w="9525">
            <a:solidFill>
              <a:schemeClr val="tx2">
                <a:alpha val="35000"/>
              </a:schemeClr>
            </a:solidFill>
            <a:prstDash val="solid"/>
          </a:ln>
        </p:spPr>
      </p:sp>
      <p:sp>
        <p:nvSpPr>
          <p:cNvPr id="39" name="Text 31"/>
          <p:cNvSpPr txBox="1"/>
          <p:nvPr/>
        </p:nvSpPr>
        <p:spPr>
          <a:xfrm>
            <a:off x="7114032" y="5285232"/>
            <a:ext cx="4059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tx2"/>
                </a:solidFill>
              </a:rPr>
              <a:t>NO TERMINAL, DENTRO DA PASTA DO LAB</a:t>
            </a:r>
            <a:endParaRPr lang="en-US" sz="1100" dirty="0"/>
          </a:p>
        </p:txBody>
      </p:sp>
      <p:sp>
        <p:nvSpPr>
          <p:cNvPr id="40" name="code"/>
          <p:cNvSpPr txBox="1"/>
          <p:nvPr/>
        </p:nvSpPr>
        <p:spPr>
          <a:xfrm>
            <a:off x="7114032" y="5705856"/>
            <a:ext cx="4059936" cy="294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</a:t>
            </a:r>
            <a:pPr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compose</a:t>
            </a:r>
            <a:pPr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</a:t>
            </a:r>
            <a:pPr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858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 txBox="1"/>
          <p:nvPr>
            <p:ph idx="101" type="title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Nosso laboratório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3"/>
                </a:solidFill>
              </a:rPr>
              <a:t>ONDE VAMOS BRINCAR</a:t>
            </a:r>
            <a:endParaRPr lang="en-US" sz="1200" dirty="0"/>
          </a:p>
        </p:txBody>
      </p:sp>
      <p:pic>
        <p:nvPicPr>
          <p:cNvPr id="4" name="Image 0" descr="Tubos ligando Vue, Hasura e Postgr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card"/>
          <p:cNvSpPr/>
          <p:nvPr/>
        </p:nvSpPr>
        <p:spPr>
          <a:xfrm>
            <a:off x="731520" y="1554480"/>
            <a:ext cx="2743200" cy="2377440"/>
          </a:xfrm>
          <a:prstGeom prst="roundRect">
            <a:avLst>
              <a:gd name="adj" fmla="val 4615"/>
            </a:avLst>
          </a:prstGeom>
          <a:solidFill>
            <a:schemeClr val="bg2">
              <a:alpha val="88000"/>
            </a:schemeClr>
          </a:solidFill>
          <a:ln w="22225">
            <a:solidFill>
              <a:schemeClr val="accent1">
                <a:alpha val="90000"/>
              </a:schemeClr>
            </a:solidFill>
            <a:prstDash val="solid"/>
          </a:ln>
        </p:spPr>
      </p:sp>
      <p:sp>
        <p:nvSpPr>
          <p:cNvPr id="6" name="icon-bg"/>
          <p:cNvSpPr/>
          <p:nvPr/>
        </p:nvSpPr>
        <p:spPr>
          <a:xfrm>
            <a:off x="960120" y="1737360"/>
            <a:ext cx="777240" cy="777240"/>
          </a:xfrm>
          <a:prstGeom prst="ellipse">
            <a:avLst/>
          </a:prstGeom>
          <a:solidFill>
            <a:schemeClr val="accent1">
              <a:alpha val="20000"/>
            </a:schemeClr>
          </a:solidFill>
          <a:ln w="12700">
            <a:solidFill>
              <a:schemeClr val="accent1">
                <a:alpha val="60000"/>
              </a:schemeClr>
            </a:solidFill>
            <a:prstDash val="solid"/>
          </a:ln>
        </p:spPr>
      </p:sp>
      <p:pic>
        <p:nvPicPr>
          <p:cNvPr id="7" name="Image 1" descr="Desktop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4430" y="1931670"/>
            <a:ext cx="388620" cy="388620"/>
          </a:xfrm>
          <a:prstGeom prst="rect">
            <a:avLst/>
          </a:prstGeom>
        </p:spPr>
      </p:pic>
      <p:sp>
        <p:nvSpPr>
          <p:cNvPr id="8" name="pill"/>
          <p:cNvSpPr/>
          <p:nvPr/>
        </p:nvSpPr>
        <p:spPr>
          <a:xfrm>
            <a:off x="2468880" y="1920240"/>
            <a:ext cx="777240" cy="310896"/>
          </a:xfrm>
          <a:prstGeom prst="roundRect">
            <a:avLst>
              <a:gd name="adj" fmla="val 50000"/>
            </a:avLst>
          </a:prstGeom>
          <a:solidFill>
            <a:schemeClr val="accent1">
              <a:alpha val="2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2468880" y="1920240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:8081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960120" y="26974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Vue 3</a:t>
            </a:r>
            <a:endParaRPr lang="en-US" sz="2600" dirty="0"/>
          </a:p>
        </p:txBody>
      </p:sp>
      <p:sp>
        <p:nvSpPr>
          <p:cNvPr id="11" name="Text 7"/>
          <p:cNvSpPr txBox="1"/>
          <p:nvPr/>
        </p:nvSpPr>
        <p:spPr>
          <a:xfrm>
            <a:off x="960120" y="31546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A tela: o que o usuário vê</a:t>
            </a:r>
            <a:endParaRPr lang="en-US" sz="1500" dirty="0"/>
          </a:p>
        </p:txBody>
      </p:sp>
      <p:sp>
        <p:nvSpPr>
          <p:cNvPr id="12" name="card"/>
          <p:cNvSpPr/>
          <p:nvPr/>
        </p:nvSpPr>
        <p:spPr>
          <a:xfrm>
            <a:off x="4709160" y="1554480"/>
            <a:ext cx="2743200" cy="2377440"/>
          </a:xfrm>
          <a:prstGeom prst="roundRect">
            <a:avLst>
              <a:gd name="adj" fmla="val 4615"/>
            </a:avLst>
          </a:prstGeom>
          <a:solidFill>
            <a:schemeClr val="bg2">
              <a:alpha val="88000"/>
            </a:schemeClr>
          </a:solidFill>
          <a:ln w="22225">
            <a:solidFill>
              <a:schemeClr val="accent2">
                <a:alpha val="90000"/>
              </a:schemeClr>
            </a:solidFill>
            <a:prstDash val="solid"/>
          </a:ln>
        </p:spPr>
      </p:sp>
      <p:sp>
        <p:nvSpPr>
          <p:cNvPr id="13" name="icon-bg"/>
          <p:cNvSpPr/>
          <p:nvPr/>
        </p:nvSpPr>
        <p:spPr>
          <a:xfrm>
            <a:off x="4937760" y="1737360"/>
            <a:ext cx="777240" cy="777240"/>
          </a:xfrm>
          <a:prstGeom prst="ellipse">
            <a:avLst/>
          </a:prstGeom>
          <a:solidFill>
            <a:schemeClr val="accent2">
              <a:alpha val="20000"/>
            </a:schemeClr>
          </a:solidFill>
          <a:ln w="12700">
            <a:solidFill>
              <a:schemeClr val="accent2">
                <a:alpha val="60000"/>
              </a:schemeClr>
            </a:solidFill>
            <a:prstDash val="solid"/>
          </a:ln>
        </p:spPr>
      </p:sp>
      <p:pic>
        <p:nvPicPr>
          <p:cNvPr id="14" name="Image 2" descr="Bolt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2070" y="1931670"/>
            <a:ext cx="388620" cy="388620"/>
          </a:xfrm>
          <a:prstGeom prst="rect">
            <a:avLst/>
          </a:prstGeom>
        </p:spPr>
      </p:pic>
      <p:sp>
        <p:nvSpPr>
          <p:cNvPr id="15" name="pill"/>
          <p:cNvSpPr/>
          <p:nvPr/>
        </p:nvSpPr>
        <p:spPr>
          <a:xfrm>
            <a:off x="6446520" y="1920240"/>
            <a:ext cx="777240" cy="310896"/>
          </a:xfrm>
          <a:prstGeom prst="roundRect">
            <a:avLst>
              <a:gd name="adj" fmla="val 50000"/>
            </a:avLst>
          </a:prstGeom>
          <a:solidFill>
            <a:schemeClr val="accent2">
              <a:alpha val="20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6446520" y="1920240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:8080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4937760" y="26974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Hasura</a:t>
            </a:r>
            <a:endParaRPr lang="en-US" sz="2600" dirty="0"/>
          </a:p>
        </p:txBody>
      </p:sp>
      <p:sp>
        <p:nvSpPr>
          <p:cNvPr id="18" name="Text 13"/>
          <p:cNvSpPr txBox="1"/>
          <p:nvPr/>
        </p:nvSpPr>
        <p:spPr>
          <a:xfrm>
            <a:off x="4937760" y="31546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Cria a API GraphQL sozinho, a partir das tabelas</a:t>
            </a:r>
            <a:endParaRPr lang="en-US" sz="1500" dirty="0"/>
          </a:p>
        </p:txBody>
      </p:sp>
      <p:sp>
        <p:nvSpPr>
          <p:cNvPr id="19" name="card"/>
          <p:cNvSpPr/>
          <p:nvPr/>
        </p:nvSpPr>
        <p:spPr>
          <a:xfrm>
            <a:off x="8686800" y="1554480"/>
            <a:ext cx="2743200" cy="2377440"/>
          </a:xfrm>
          <a:prstGeom prst="roundRect">
            <a:avLst>
              <a:gd name="adj" fmla="val 4615"/>
            </a:avLst>
          </a:prstGeom>
          <a:solidFill>
            <a:schemeClr val="bg2">
              <a:alpha val="88000"/>
            </a:schemeClr>
          </a:solidFill>
          <a:ln w="22225">
            <a:solidFill>
              <a:schemeClr val="accent3">
                <a:alpha val="90000"/>
              </a:schemeClr>
            </a:solidFill>
            <a:prstDash val="solid"/>
          </a:ln>
        </p:spPr>
      </p:sp>
      <p:sp>
        <p:nvSpPr>
          <p:cNvPr id="20" name="icon-bg"/>
          <p:cNvSpPr/>
          <p:nvPr/>
        </p:nvSpPr>
        <p:spPr>
          <a:xfrm>
            <a:off x="8915400" y="1737360"/>
            <a:ext cx="777240" cy="777240"/>
          </a:xfrm>
          <a:prstGeom prst="ellipse">
            <a:avLst/>
          </a:prstGeom>
          <a:solidFill>
            <a:schemeClr val="accent3">
              <a:alpha val="20000"/>
            </a:schemeClr>
          </a:solidFill>
          <a:ln w="12700">
            <a:solidFill>
              <a:schemeClr val="accent3">
                <a:alpha val="60000"/>
              </a:schemeClr>
            </a:solidFill>
            <a:prstDash val="solid"/>
          </a:ln>
        </p:spPr>
      </p:sp>
      <p:pic>
        <p:nvPicPr>
          <p:cNvPr id="21" name="Image 3" descr="Database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09710" y="1931670"/>
            <a:ext cx="388620" cy="388620"/>
          </a:xfrm>
          <a:prstGeom prst="rect">
            <a:avLst/>
          </a:prstGeom>
        </p:spPr>
      </p:pic>
      <p:sp>
        <p:nvSpPr>
          <p:cNvPr id="22" name="pill"/>
          <p:cNvSpPr/>
          <p:nvPr/>
        </p:nvSpPr>
        <p:spPr>
          <a:xfrm>
            <a:off x="10424160" y="1920240"/>
            <a:ext cx="777240" cy="310896"/>
          </a:xfrm>
          <a:prstGeom prst="roundRect">
            <a:avLst>
              <a:gd name="adj" fmla="val 50000"/>
            </a:avLst>
          </a:prstGeom>
          <a:solidFill>
            <a:schemeClr val="accent3">
              <a:alpha val="20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3" name="Text 17"/>
          <p:cNvSpPr txBox="1"/>
          <p:nvPr/>
        </p:nvSpPr>
        <p:spPr>
          <a:xfrm>
            <a:off x="10424160" y="1920240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:8082</a:t>
            </a:r>
            <a:endParaRPr lang="en-US" sz="1400" dirty="0"/>
          </a:p>
        </p:txBody>
      </p:sp>
      <p:sp>
        <p:nvSpPr>
          <p:cNvPr id="24" name="Text 18"/>
          <p:cNvSpPr txBox="1"/>
          <p:nvPr/>
        </p:nvSpPr>
        <p:spPr>
          <a:xfrm>
            <a:off x="8915400" y="26974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Postgres</a:t>
            </a:r>
            <a:endParaRPr lang="en-US" sz="2600" dirty="0"/>
          </a:p>
        </p:txBody>
      </p:sp>
      <p:sp>
        <p:nvSpPr>
          <p:cNvPr id="25" name="Text 19"/>
          <p:cNvSpPr txBox="1"/>
          <p:nvPr/>
        </p:nvSpPr>
        <p:spPr>
          <a:xfrm>
            <a:off x="8915400" y="31546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Guarda users, posts e comments</a:t>
            </a:r>
            <a:endParaRPr lang="en-US" sz="1500" dirty="0"/>
          </a:p>
        </p:txBody>
      </p:sp>
      <p:sp>
        <p:nvSpPr>
          <p:cNvPr id="26" name="Text 20"/>
          <p:cNvSpPr txBox="1"/>
          <p:nvPr/>
        </p:nvSpPr>
        <p:spPr>
          <a:xfrm>
            <a:off x="3474720" y="22860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GraphQL</a:t>
            </a:r>
            <a:endParaRPr lang="en-US" sz="1800" dirty="0"/>
          </a:p>
        </p:txBody>
      </p:sp>
      <p:sp>
        <p:nvSpPr>
          <p:cNvPr id="27" name="Text 21"/>
          <p:cNvSpPr txBox="1"/>
          <p:nvPr/>
        </p:nvSpPr>
        <p:spPr>
          <a:xfrm>
            <a:off x="3520440" y="301752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POST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/v1/graphql</a:t>
            </a:r>
            <a:endParaRPr lang="en-US" sz="1200" dirty="0"/>
          </a:p>
        </p:txBody>
      </p:sp>
      <p:sp>
        <p:nvSpPr>
          <p:cNvPr id="28" name="Text 22"/>
          <p:cNvSpPr txBox="1"/>
          <p:nvPr/>
        </p:nvSpPr>
        <p:spPr>
          <a:xfrm>
            <a:off x="7498080" y="22860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SQL</a:t>
            </a:r>
            <a:endParaRPr lang="en-US" sz="1800" dirty="0"/>
          </a:p>
        </p:txBody>
      </p:sp>
      <p:sp>
        <p:nvSpPr>
          <p:cNvPr id="29" name="card"/>
          <p:cNvSpPr/>
          <p:nvPr/>
        </p:nvSpPr>
        <p:spPr>
          <a:xfrm>
            <a:off x="8686800" y="4526280"/>
            <a:ext cx="2743200" cy="960120"/>
          </a:xfrm>
          <a:prstGeom prst="roundRect">
            <a:avLst>
              <a:gd name="adj" fmla="val 11429"/>
            </a:avLst>
          </a:prstGeom>
          <a:solidFill>
            <a:schemeClr val="bg2">
              <a:alpha val="88000"/>
            </a:schemeClr>
          </a:solidFill>
          <a:ln w="9525">
            <a:solidFill>
              <a:schemeClr val="tx2">
                <a:alpha val="35000"/>
              </a:schemeClr>
            </a:solidFill>
            <a:prstDash val="solid"/>
          </a:ln>
        </p:spPr>
      </p:sp>
      <p:sp>
        <p:nvSpPr>
          <p:cNvPr id="30" name="icon-bg"/>
          <p:cNvSpPr/>
          <p:nvPr/>
        </p:nvSpPr>
        <p:spPr>
          <a:xfrm>
            <a:off x="8869680" y="4681728"/>
            <a:ext cx="640080" cy="640080"/>
          </a:xfrm>
          <a:prstGeom prst="ellipse">
            <a:avLst/>
          </a:prstGeom>
          <a:solidFill>
            <a:schemeClr val="accent4">
              <a:alpha val="20000"/>
            </a:schemeClr>
          </a:solidFill>
          <a:ln w="12700">
            <a:solidFill>
              <a:schemeClr val="accent4">
                <a:alpha val="60000"/>
              </a:schemeClr>
            </a:solidFill>
            <a:prstDash val="solid"/>
          </a:ln>
        </p:spPr>
      </p:sp>
      <p:pic>
        <p:nvPicPr>
          <p:cNvPr id="31" name="Image 4" descr="Seedling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29700" y="4841748"/>
            <a:ext cx="320040" cy="320040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9646920" y="46177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Seeder</a:t>
            </a:r>
            <a:endParaRPr lang="en-US" sz="2000" dirty="0"/>
          </a:p>
        </p:txBody>
      </p:sp>
      <p:sp>
        <p:nvSpPr>
          <p:cNvPr id="33" name="Text 26"/>
          <p:cNvSpPr txBox="1"/>
          <p:nvPr/>
        </p:nvSpPr>
        <p:spPr>
          <a:xfrm>
            <a:off x="9646920" y="495604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Cria 100 usuários, posts e comentários</a:t>
            </a:r>
            <a:endParaRPr lang="en-US" sz="1200" dirty="0"/>
          </a:p>
        </p:txBody>
      </p:sp>
      <p:sp>
        <p:nvSpPr>
          <p:cNvPr id="34" name="Text 27"/>
          <p:cNvSpPr txBox="1"/>
          <p:nvPr/>
        </p:nvSpPr>
        <p:spPr>
          <a:xfrm>
            <a:off x="731520" y="452628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Console Hasura  </a:t>
            </a:r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localhost:8080/console</a:t>
            </a:r>
            <a:endParaRPr lang="en-US" sz="1600" dirty="0"/>
          </a:p>
        </p:txBody>
      </p:sp>
      <p:sp>
        <p:nvSpPr>
          <p:cNvPr id="35" name="Text 28"/>
          <p:cNvSpPr txBox="1"/>
          <p:nvPr/>
        </p:nvSpPr>
        <p:spPr>
          <a:xfrm>
            <a:off x="731520" y="493776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App Vue  </a:t>
            </a:r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localhost:8081</a:t>
            </a:r>
            <a:endParaRPr lang="en-US" sz="1600" dirty="0"/>
          </a:p>
        </p:txBody>
      </p:sp>
      <p:sp>
        <p:nvSpPr>
          <p:cNvPr id="36" name="card"/>
          <p:cNvSpPr/>
          <p:nvPr/>
        </p:nvSpPr>
        <p:spPr>
          <a:xfrm>
            <a:off x="548640" y="5669280"/>
            <a:ext cx="11064240" cy="640080"/>
          </a:xfrm>
          <a:prstGeom prst="roundRect">
            <a:avLst>
              <a:gd name="adj" fmla="val 17143"/>
            </a:avLst>
          </a:prstGeom>
          <a:solidFill>
            <a:schemeClr val="bg2">
              <a:alpha val="88000"/>
            </a:schemeClr>
          </a:solidFill>
          <a:ln w="22225">
            <a:solidFill>
              <a:schemeClr val="accent2">
                <a:alpha val="90000"/>
              </a:schemeClr>
            </a:solidFill>
            <a:prstDash val="solid"/>
          </a:ln>
        </p:spPr>
      </p:sp>
      <p:sp>
        <p:nvSpPr>
          <p:cNvPr id="37" name="Text 30"/>
          <p:cNvSpPr txBox="1"/>
          <p:nvPr/>
        </p:nvSpPr>
        <p:spPr>
          <a:xfrm>
            <a:off x="822960" y="56692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Você escreve GraphQL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  →  Hasura traduz para </a:t>
            </a:r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SQL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  →  Postgres responde  →  Hasura devolve </a:t>
            </a:r>
            <a:pPr indent="0" marL="0">
              <a:buNone/>
            </a:pPr>
            <a:r>
              <a:rPr lang="en-US" sz="1700" b="1" dirty="0">
                <a:solidFill>
                  <a:schemeClr val="accent4"/>
                </a:solidFill>
              </a:rPr>
              <a:t>JSON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858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 txBox="1"/>
          <p:nvPr>
            <p:ph idx="101" type="title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Os dados que vamos consultar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3"/>
                </a:solidFill>
              </a:rPr>
              <a:t>MODELO DE DADOS</a:t>
            </a:r>
            <a:endParaRPr lang="en-US" sz="1200" dirty="0"/>
          </a:p>
        </p:txBody>
      </p:sp>
      <p:sp>
        <p:nvSpPr>
          <p:cNvPr id="4" name="card"/>
          <p:cNvSpPr/>
          <p:nvPr/>
        </p:nvSpPr>
        <p:spPr>
          <a:xfrm>
            <a:off x="548640" y="1554480"/>
            <a:ext cx="3291840" cy="3017520"/>
          </a:xfrm>
          <a:prstGeom prst="roundRect">
            <a:avLst>
              <a:gd name="adj" fmla="val 3636"/>
            </a:avLst>
          </a:prstGeom>
          <a:solidFill>
            <a:schemeClr val="bg2">
              <a:alpha val="88000"/>
            </a:schemeClr>
          </a:solidFill>
          <a:ln w="22225">
            <a:solidFill>
              <a:schemeClr val="accent3">
                <a:alpha val="90000"/>
              </a:scheme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9164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users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240280"/>
            <a:ext cx="2834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username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bio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created_at</a:t>
            </a:r>
            <a:endParaRPr lang="en-US" sz="1400" dirty="0"/>
          </a:p>
        </p:txBody>
      </p:sp>
      <p:sp>
        <p:nvSpPr>
          <p:cNvPr id="7" name="card"/>
          <p:cNvSpPr/>
          <p:nvPr/>
        </p:nvSpPr>
        <p:spPr>
          <a:xfrm>
            <a:off x="4434840" y="1554480"/>
            <a:ext cx="3291840" cy="3017520"/>
          </a:xfrm>
          <a:prstGeom prst="roundRect">
            <a:avLst>
              <a:gd name="adj" fmla="val 3636"/>
            </a:avLst>
          </a:prstGeom>
          <a:solidFill>
            <a:schemeClr val="bg2">
              <a:alpha val="88000"/>
            </a:schemeClr>
          </a:solidFill>
          <a:ln w="22225">
            <a:solidFill>
              <a:schemeClr val="accent2">
                <a:alpha val="90000"/>
              </a:scheme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63440" y="169164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posts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4663440" y="2240280"/>
            <a:ext cx="2834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user_id  → users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title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created_at</a:t>
            </a:r>
            <a:endParaRPr lang="en-US" sz="1400" dirty="0"/>
          </a:p>
        </p:txBody>
      </p:sp>
      <p:sp>
        <p:nvSpPr>
          <p:cNvPr id="10" name="card"/>
          <p:cNvSpPr/>
          <p:nvPr/>
        </p:nvSpPr>
        <p:spPr>
          <a:xfrm>
            <a:off x="8321040" y="1554480"/>
            <a:ext cx="3291840" cy="3017520"/>
          </a:xfrm>
          <a:prstGeom prst="roundRect">
            <a:avLst>
              <a:gd name="adj" fmla="val 3636"/>
            </a:avLst>
          </a:prstGeom>
          <a:solidFill>
            <a:schemeClr val="bg2">
              <a:alpha val="88000"/>
            </a:schemeClr>
          </a:solidFill>
          <a:ln w="22225">
            <a:solidFill>
              <a:schemeClr val="accent4">
                <a:alpha val="90000"/>
              </a:scheme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549640" y="169164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comments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8549640" y="2240280"/>
            <a:ext cx="2834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post_id  → posts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user_id  → users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created_at</a:t>
            </a:r>
            <a:endParaRPr lang="en-US" sz="1400" dirty="0"/>
          </a:p>
        </p:txBody>
      </p:sp>
      <p:sp>
        <p:nvSpPr>
          <p:cNvPr id="13" name="arrow"/>
          <p:cNvSpPr/>
          <p:nvPr/>
        </p:nvSpPr>
        <p:spPr>
          <a:xfrm>
            <a:off x="3886200" y="3063240"/>
            <a:ext cx="502920" cy="0"/>
          </a:xfrm>
          <a:prstGeom prst="line">
            <a:avLst/>
          </a:prstGeom>
          <a:noFill/>
          <a:ln w="317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4" name="Text 12"/>
          <p:cNvSpPr txBox="1"/>
          <p:nvPr/>
        </p:nvSpPr>
        <p:spPr>
          <a:xfrm>
            <a:off x="3840480" y="274320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1:N</a:t>
            </a:r>
            <a:endParaRPr lang="en-US" sz="1400" dirty="0"/>
          </a:p>
        </p:txBody>
      </p:sp>
      <p:sp>
        <p:nvSpPr>
          <p:cNvPr id="15" name="arrow"/>
          <p:cNvSpPr/>
          <p:nvPr/>
        </p:nvSpPr>
        <p:spPr>
          <a:xfrm>
            <a:off x="7772400" y="3063240"/>
            <a:ext cx="502920" cy="0"/>
          </a:xfrm>
          <a:prstGeom prst="line">
            <a:avLst/>
          </a:prstGeom>
          <a:noFill/>
          <a:ln w="317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7726680" y="274320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1:N</a:t>
            </a:r>
            <a:endParaRPr lang="en-US" sz="1400" dirty="0"/>
          </a:p>
        </p:txBody>
      </p:sp>
      <p:sp>
        <p:nvSpPr>
          <p:cNvPr id="17" name="pill"/>
          <p:cNvSpPr/>
          <p:nvPr/>
        </p:nvSpPr>
        <p:spPr>
          <a:xfrm>
            <a:off x="548640" y="4892040"/>
            <a:ext cx="1828800" cy="365760"/>
          </a:xfrm>
          <a:prstGeom prst="roundRect">
            <a:avLst>
              <a:gd name="adj" fmla="val 42500"/>
            </a:avLst>
          </a:prstGeom>
          <a:solidFill>
            <a:schemeClr val="accent3">
              <a:alpha val="20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4892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100 usuários</a:t>
            </a:r>
            <a:endParaRPr lang="en-US" sz="1400" dirty="0"/>
          </a:p>
        </p:txBody>
      </p:sp>
      <p:sp>
        <p:nvSpPr>
          <p:cNvPr id="19" name="pill"/>
          <p:cNvSpPr/>
          <p:nvPr/>
        </p:nvSpPr>
        <p:spPr>
          <a:xfrm>
            <a:off x="2560320" y="4892040"/>
            <a:ext cx="1828800" cy="365760"/>
          </a:xfrm>
          <a:prstGeom prst="roundRect">
            <a:avLst>
              <a:gd name="adj" fmla="val 42500"/>
            </a:avLst>
          </a:prstGeom>
          <a:solidFill>
            <a:schemeClr val="accent2">
              <a:alpha val="20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560320" y="4892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≈ 250 posts</a:t>
            </a:r>
            <a:endParaRPr lang="en-US" sz="1400" dirty="0"/>
          </a:p>
        </p:txBody>
      </p:sp>
      <p:sp>
        <p:nvSpPr>
          <p:cNvPr id="21" name="pill"/>
          <p:cNvSpPr/>
          <p:nvPr/>
        </p:nvSpPr>
        <p:spPr>
          <a:xfrm>
            <a:off x="4572000" y="4892040"/>
            <a:ext cx="2377440" cy="365760"/>
          </a:xfrm>
          <a:prstGeom prst="roundRect">
            <a:avLst>
              <a:gd name="adj" fmla="val 42500"/>
            </a:avLst>
          </a:prstGeom>
          <a:solidFill>
            <a:schemeClr val="accent4">
              <a:alpha val="20000"/>
            </a:schemeClr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572000" y="48920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≈ 390 comentários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54406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Cada usuário tem de 0 a 5 posts. Cada post tem de 0 a 3 comentários, escritos por qualquer usuário (por isso comments também aponta para users).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858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body" hasCustomPrompt="1"/>
          </p:nvPr>
        </p:nvSpPr>
        <p:spPr>
          <a:xfrm>
            <a:off x="731520" y="21031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400" kern="0" dirty="0">
                <a:solidFill>
                  <a:schemeClr val="accent2"/>
                </a:solidFill>
              </a:rPr>
              <a:t>PARTE 1</a:t>
            </a:r>
            <a:endParaRPr lang="en-US" sz="1600" dirty="0"/>
          </a:p>
        </p:txBody>
      </p:sp>
      <p:sp>
        <p:nvSpPr>
          <p:cNvPr id="3" name="Text 0"/>
          <p:cNvSpPr txBox="1"/>
          <p:nvPr>
            <p:ph idx="101" type="title" hasCustomPrompt="1"/>
          </p:nvPr>
        </p:nvSpPr>
        <p:spPr>
          <a:xfrm>
            <a:off x="731520" y="2514600"/>
            <a:ext cx="7498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tx1"/>
                </a:solidFill>
              </a:rPr>
              <a:t>O problema</a:t>
            </a:r>
            <a:endParaRPr lang="en-US" sz="4800" dirty="0"/>
          </a:p>
        </p:txBody>
      </p:sp>
      <p:sp>
        <p:nvSpPr>
          <p:cNvPr id="4" name="Text 0"/>
          <p:cNvSpPr txBox="1"/>
          <p:nvPr>
            <p:ph idx="102" type="body" hasCustomPrompt="1"/>
          </p:nvPr>
        </p:nvSpPr>
        <p:spPr>
          <a:xfrm>
            <a:off x="731520" y="379476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Por que alguém inventou o GraphQL?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863840" y="1280160"/>
            <a:ext cx="38404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b="1" dirty="0">
                <a:solidFill>
                  <a:schemeClr val="accent2">
                    <a:alpha val="18000"/>
                  </a:schemeClr>
                </a:solidFill>
              </a:rPr>
              <a:t>01</a:t>
            </a:r>
            <a:endParaRPr lang="en-US" sz="20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 txBox="1"/>
          <p:nvPr>
            <p:ph idx="101" type="title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Analogia: restaurante x buffet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DUAS FORMAS DE PEDIR DADOS</a:t>
            </a:r>
            <a:endParaRPr lang="en-US" sz="1200" dirty="0"/>
          </a:p>
        </p:txBody>
      </p:sp>
      <p:sp>
        <p:nvSpPr>
          <p:cNvPr id="4" name="card"/>
          <p:cNvSpPr/>
          <p:nvPr/>
        </p:nvSpPr>
        <p:spPr>
          <a:xfrm>
            <a:off x="548640" y="1554480"/>
            <a:ext cx="5394960" cy="3886200"/>
          </a:xfrm>
          <a:prstGeom prst="roundRect">
            <a:avLst>
              <a:gd name="adj" fmla="val 2824"/>
            </a:avLst>
          </a:prstGeom>
          <a:solidFill>
            <a:schemeClr val="bg2">
              <a:alpha val="88000"/>
            </a:schemeClr>
          </a:solidFill>
          <a:ln w="22225">
            <a:solidFill>
              <a:schemeClr val="accent1">
                <a:alpha val="90000"/>
              </a:schemeClr>
            </a:solidFill>
            <a:prstDash val="solid"/>
          </a:ln>
        </p:spPr>
      </p:sp>
      <p:sp>
        <p:nvSpPr>
          <p:cNvPr id="5" name="icon-bg"/>
          <p:cNvSpPr/>
          <p:nvPr/>
        </p:nvSpPr>
        <p:spPr>
          <a:xfrm>
            <a:off x="777240" y="1737360"/>
            <a:ext cx="685800" cy="685800"/>
          </a:xfrm>
          <a:prstGeom prst="ellipse">
            <a:avLst/>
          </a:prstGeom>
          <a:solidFill>
            <a:schemeClr val="accent1">
              <a:alpha val="20000"/>
            </a:schemeClr>
          </a:solidFill>
          <a:ln w="12700">
            <a:solidFill>
              <a:schemeClr val="accent1">
                <a:alpha val="60000"/>
              </a:schemeClr>
            </a:solidFill>
            <a:prstDash val="solid"/>
          </a:ln>
        </p:spPr>
      </p:sp>
      <p:pic>
        <p:nvPicPr>
          <p:cNvPr id="6" name="Image 0" descr="Utensils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8690" y="1908810"/>
            <a:ext cx="342900" cy="3429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45920" y="173736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REST: restaurante à la carte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5603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Cardápio fixo: cada prato já vem pronto.</a:t>
            </a:r>
            <a:endParaRPr lang="en-US" sz="1600" dirty="0"/>
          </a:p>
        </p:txBody>
      </p:sp>
      <p:sp>
        <p:nvSpPr>
          <p:cNvPr id="9" name="card"/>
          <p:cNvSpPr/>
          <p:nvPr/>
        </p:nvSpPr>
        <p:spPr>
          <a:xfrm>
            <a:off x="6245352" y="1554480"/>
            <a:ext cx="5394960" cy="3886200"/>
          </a:xfrm>
          <a:prstGeom prst="roundRect">
            <a:avLst>
              <a:gd name="adj" fmla="val 2824"/>
            </a:avLst>
          </a:prstGeom>
          <a:solidFill>
            <a:schemeClr val="bg2">
              <a:alpha val="88000"/>
            </a:schemeClr>
          </a:solidFill>
          <a:ln w="22225">
            <a:solidFill>
              <a:schemeClr val="accent2">
                <a:alpha val="90000"/>
              </a:schemeClr>
            </a:solidFill>
            <a:prstDash val="solid"/>
          </a:ln>
        </p:spPr>
      </p:sp>
      <p:sp>
        <p:nvSpPr>
          <p:cNvPr id="10" name="icon-bg"/>
          <p:cNvSpPr/>
          <p:nvPr/>
        </p:nvSpPr>
        <p:spPr>
          <a:xfrm>
            <a:off x="6473952" y="1737360"/>
            <a:ext cx="685800" cy="685800"/>
          </a:xfrm>
          <a:prstGeom prst="ellipse">
            <a:avLst/>
          </a:prstGeom>
          <a:solidFill>
            <a:schemeClr val="accent2">
              <a:alpha val="20000"/>
            </a:schemeClr>
          </a:solidFill>
          <a:ln w="12700">
            <a:solidFill>
              <a:schemeClr val="accent2">
                <a:alpha val="60000"/>
              </a:schemeClr>
            </a:solidFill>
            <a:prstDash val="solid"/>
          </a:ln>
        </p:spPr>
      </p:sp>
      <p:pic>
        <p:nvPicPr>
          <p:cNvPr id="11" name="Image 1" descr="BoxOpen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5402" y="1908810"/>
            <a:ext cx="342900" cy="3429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342632" y="173736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GraphQL: monte o seu prato</a:t>
            </a:r>
            <a:endParaRPr lang="en-US" sz="2200" dirty="0"/>
          </a:p>
        </p:txBody>
      </p:sp>
      <p:sp>
        <p:nvSpPr>
          <p:cNvPr id="13" name="Text 9"/>
          <p:cNvSpPr txBox="1"/>
          <p:nvPr/>
        </p:nvSpPr>
        <p:spPr>
          <a:xfrm>
            <a:off x="6519672" y="25603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Um balcão só: você escolhe o que entra.</a:t>
            </a:r>
            <a:endParaRPr lang="en-US" sz="1600" dirty="0"/>
          </a:p>
        </p:txBody>
      </p:sp>
      <p:pic>
        <p:nvPicPr>
          <p:cNvPr id="14" name="Image 2" descr="Pratos prontos à esquerda; buffet com itens escolhidos à direita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15" name="pill"/>
          <p:cNvSpPr/>
          <p:nvPr/>
        </p:nvSpPr>
        <p:spPr>
          <a:xfrm>
            <a:off x="868680" y="4663440"/>
            <a:ext cx="1371600" cy="365760"/>
          </a:xfrm>
          <a:prstGeom prst="roundRect">
            <a:avLst>
              <a:gd name="adj" fmla="val 42500"/>
            </a:avLst>
          </a:prstGeom>
          <a:solidFill>
            <a:schemeClr val="accent1">
              <a:alpha val="2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868680" y="46634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/users</a:t>
            </a:r>
            <a:endParaRPr lang="en-US" sz="1400" dirty="0"/>
          </a:p>
        </p:txBody>
      </p:sp>
      <p:sp>
        <p:nvSpPr>
          <p:cNvPr id="17" name="pill"/>
          <p:cNvSpPr/>
          <p:nvPr/>
        </p:nvSpPr>
        <p:spPr>
          <a:xfrm>
            <a:off x="2560320" y="4663440"/>
            <a:ext cx="1371600" cy="365760"/>
          </a:xfrm>
          <a:prstGeom prst="roundRect">
            <a:avLst>
              <a:gd name="adj" fmla="val 42500"/>
            </a:avLst>
          </a:prstGeom>
          <a:solidFill>
            <a:schemeClr val="accent1">
              <a:alpha val="2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2560320" y="46634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/posts</a:t>
            </a:r>
            <a:endParaRPr lang="en-US" sz="1400" dirty="0"/>
          </a:p>
        </p:txBody>
      </p:sp>
      <p:sp>
        <p:nvSpPr>
          <p:cNvPr id="19" name="pill"/>
          <p:cNvSpPr/>
          <p:nvPr/>
        </p:nvSpPr>
        <p:spPr>
          <a:xfrm>
            <a:off x="4251960" y="4663440"/>
            <a:ext cx="1371600" cy="365760"/>
          </a:xfrm>
          <a:prstGeom prst="roundRect">
            <a:avLst>
              <a:gd name="adj" fmla="val 42500"/>
            </a:avLst>
          </a:prstGeom>
          <a:solidFill>
            <a:schemeClr val="accent1">
              <a:alpha val="2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4251960" y="46634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/comments</a:t>
            </a:r>
            <a:endParaRPr lang="en-US" sz="1400" dirty="0"/>
          </a:p>
        </p:txBody>
      </p:sp>
      <p:sp>
        <p:nvSpPr>
          <p:cNvPr id="21" name="pill"/>
          <p:cNvSpPr/>
          <p:nvPr/>
        </p:nvSpPr>
        <p:spPr>
          <a:xfrm>
            <a:off x="6492240" y="4892040"/>
            <a:ext cx="1005840" cy="365760"/>
          </a:xfrm>
          <a:prstGeom prst="roundRect">
            <a:avLst>
              <a:gd name="adj" fmla="val 42500"/>
            </a:avLst>
          </a:prstGeom>
          <a:solidFill>
            <a:schemeClr val="accent2">
              <a:alpha val="20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6492240" y="489204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name</a:t>
            </a:r>
            <a:endParaRPr lang="en-US" sz="1300" dirty="0"/>
          </a:p>
        </p:txBody>
      </p:sp>
      <p:sp>
        <p:nvSpPr>
          <p:cNvPr id="23" name="pill"/>
          <p:cNvSpPr/>
          <p:nvPr/>
        </p:nvSpPr>
        <p:spPr>
          <a:xfrm>
            <a:off x="7635240" y="4892040"/>
            <a:ext cx="1737360" cy="365760"/>
          </a:xfrm>
          <a:prstGeom prst="roundRect">
            <a:avLst>
              <a:gd name="adj" fmla="val 42500"/>
            </a:avLst>
          </a:prstGeom>
          <a:solidFill>
            <a:schemeClr val="accent2">
              <a:alpha val="20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7635240" y="48920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posts { title }</a:t>
            </a:r>
            <a:endParaRPr lang="en-US" sz="1300" dirty="0"/>
          </a:p>
        </p:txBody>
      </p:sp>
      <p:sp>
        <p:nvSpPr>
          <p:cNvPr id="25" name="pill"/>
          <p:cNvSpPr/>
          <p:nvPr/>
        </p:nvSpPr>
        <p:spPr>
          <a:xfrm>
            <a:off x="9509760" y="4892040"/>
            <a:ext cx="1920240" cy="365760"/>
          </a:xfrm>
          <a:prstGeom prst="roundRect">
            <a:avLst>
              <a:gd name="adj" fmla="val 42500"/>
            </a:avLst>
          </a:prstGeom>
          <a:solidFill>
            <a:schemeClr val="accent2">
              <a:alpha val="20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9509760" y="48920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comments { body }</a:t>
            </a:r>
            <a:endParaRPr lang="en-US" sz="1300" dirty="0"/>
          </a:p>
        </p:txBody>
      </p:sp>
      <p:sp>
        <p:nvSpPr>
          <p:cNvPr id="27" name="card"/>
          <p:cNvSpPr/>
          <p:nvPr/>
        </p:nvSpPr>
        <p:spPr>
          <a:xfrm>
            <a:off x="548640" y="5623560"/>
            <a:ext cx="11064240" cy="685800"/>
          </a:xfrm>
          <a:prstGeom prst="roundRect">
            <a:avLst>
              <a:gd name="adj" fmla="val 16000"/>
            </a:avLst>
          </a:prstGeom>
          <a:solidFill>
            <a:schemeClr val="bg2">
              <a:alpha val="88000"/>
            </a:schemeClr>
          </a:solidFill>
          <a:ln w="22225">
            <a:solidFill>
              <a:schemeClr val="accent6">
                <a:alpha val="90000"/>
              </a:schemeClr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822960" y="562356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REST: </a:t>
            </a:r>
            <a:pPr algn="ctr"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o servidor decide o formato da resposta.   </a:t>
            </a:r>
            <a:pPr algn="ctr"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GraphQL: </a:t>
            </a:r>
            <a:pPr algn="ctr"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o cliente decide.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858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 txBox="1"/>
          <p:nvPr>
            <p:ph idx="101" type="title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Missão: montar a tela de perfil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O CASO REAL DO LAB</a:t>
            </a:r>
            <a:endParaRPr lang="en-US" sz="1200" dirty="0"/>
          </a:p>
        </p:txBody>
      </p:sp>
      <p:sp>
        <p:nvSpPr>
          <p:cNvPr id="4" name="card"/>
          <p:cNvSpPr/>
          <p:nvPr/>
        </p:nvSpPr>
        <p:spPr>
          <a:xfrm>
            <a:off x="548640" y="1554480"/>
            <a:ext cx="5120640" cy="4526280"/>
          </a:xfrm>
          <a:prstGeom prst="roundRect">
            <a:avLst>
              <a:gd name="adj" fmla="val 2424"/>
            </a:avLst>
          </a:prstGeom>
          <a:solidFill>
            <a:schemeClr val="tx1">
              <a:alpha val="88000"/>
            </a:schemeClr>
          </a:solidFill>
          <a:ln w="9525">
            <a:solidFill>
              <a:schemeClr val="tx2">
                <a:alpha val="35000"/>
              </a:scheme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78308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Noah Xavier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24028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1"/>
                </a:solidFill>
              </a:rPr>
              <a:t>@noah.xavier.2 · designer, designer</a:t>
            </a:r>
            <a:endParaRPr lang="en-US" sz="1300" dirty="0"/>
          </a:p>
        </p:txBody>
      </p:sp>
      <p:sp>
        <p:nvSpPr>
          <p:cNvPr id="7" name="mock-post"/>
          <p:cNvSpPr/>
          <p:nvPr/>
        </p:nvSpPr>
        <p:spPr>
          <a:xfrm>
            <a:off x="868680" y="2743200"/>
            <a:ext cx="4480560" cy="868680"/>
          </a:xfrm>
          <a:prstGeom prst="roundRect">
            <a:avLst>
              <a:gd name="adj" fmla="val 8421"/>
            </a:avLst>
          </a:prstGeom>
          <a:solidFill>
            <a:schemeClr val="bg2">
              <a:alpha val="12000"/>
            </a:schemeClr>
          </a:solidFill>
          <a:ln w="12700">
            <a:solidFill>
              <a:schemeClr val="accent2">
                <a:alpha val="50000"/>
              </a:scheme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05840" y="28346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Eos dolor qui quo.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32004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1 comentário · com o nome de quem comentou</a:t>
            </a:r>
            <a:endParaRPr lang="en-US" sz="1200" dirty="0"/>
          </a:p>
        </p:txBody>
      </p:sp>
      <p:sp>
        <p:nvSpPr>
          <p:cNvPr id="10" name="mock-post"/>
          <p:cNvSpPr/>
          <p:nvPr/>
        </p:nvSpPr>
        <p:spPr>
          <a:xfrm>
            <a:off x="868680" y="3794760"/>
            <a:ext cx="4480560" cy="868680"/>
          </a:xfrm>
          <a:prstGeom prst="roundRect">
            <a:avLst>
              <a:gd name="adj" fmla="val 8421"/>
            </a:avLst>
          </a:prstGeom>
          <a:solidFill>
            <a:schemeClr val="bg2">
              <a:alpha val="12000"/>
            </a:schemeClr>
          </a:solidFill>
          <a:ln w="12700">
            <a:solidFill>
              <a:schemeClr val="accent2">
                <a:alpha val="50000"/>
              </a:scheme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05840" y="38862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Animi illum pariatur facilis…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42519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3 comentários · com o nome de quem comentou</a:t>
            </a:r>
            <a:endParaRPr lang="en-US" sz="1200" dirty="0"/>
          </a:p>
        </p:txBody>
      </p:sp>
      <p:sp>
        <p:nvSpPr>
          <p:cNvPr id="13" name="mock-post"/>
          <p:cNvSpPr/>
          <p:nvPr/>
        </p:nvSpPr>
        <p:spPr>
          <a:xfrm>
            <a:off x="868680" y="4846320"/>
            <a:ext cx="4480560" cy="868680"/>
          </a:xfrm>
          <a:prstGeom prst="roundRect">
            <a:avLst>
              <a:gd name="adj" fmla="val 8421"/>
            </a:avLst>
          </a:prstGeom>
          <a:solidFill>
            <a:schemeClr val="bg2">
              <a:alpha val="12000"/>
            </a:schemeClr>
          </a:solidFill>
          <a:ln w="12700">
            <a:solidFill>
              <a:schemeClr val="accent2">
                <a:alpha val="50000"/>
              </a:scheme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05840" y="49377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Repellat vel voluptate…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" y="53035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1 comentário · com o nome de quem comentou</a:t>
            </a:r>
            <a:endParaRPr lang="en-US" sz="1200" dirty="0"/>
          </a:p>
        </p:txBody>
      </p:sp>
      <p:sp>
        <p:nvSpPr>
          <p:cNvPr id="16" name="card"/>
          <p:cNvSpPr/>
          <p:nvPr/>
        </p:nvSpPr>
        <p:spPr>
          <a:xfrm>
            <a:off x="6309360" y="1554480"/>
            <a:ext cx="5303520" cy="1188720"/>
          </a:xfrm>
          <a:prstGeom prst="roundRect">
            <a:avLst>
              <a:gd name="adj" fmla="val 9231"/>
            </a:avLst>
          </a:prstGeom>
          <a:solidFill>
            <a:schemeClr val="bg2">
              <a:alpha val="88000"/>
            </a:schemeClr>
          </a:solidFill>
          <a:ln w="22225">
            <a:solidFill>
              <a:schemeClr val="accent3">
                <a:alpha val="90000"/>
              </a:schemeClr>
            </a:solidFill>
            <a:prstDash val="solid"/>
          </a:ln>
        </p:spPr>
      </p:sp>
      <p:sp>
        <p:nvSpPr>
          <p:cNvPr id="17" name="badge"/>
          <p:cNvSpPr/>
          <p:nvPr/>
        </p:nvSpPr>
        <p:spPr>
          <a:xfrm>
            <a:off x="6537960" y="1920240"/>
            <a:ext cx="457200" cy="457200"/>
          </a:xfrm>
          <a:prstGeom prst="ellipse">
            <a:avLst/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53796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223760" y="17830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Dados do usuário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7223760" y="21945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name, username, bio</a:t>
            </a:r>
            <a:endParaRPr lang="en-US" sz="1500" dirty="0"/>
          </a:p>
        </p:txBody>
      </p:sp>
      <p:sp>
        <p:nvSpPr>
          <p:cNvPr id="21" name="card"/>
          <p:cNvSpPr/>
          <p:nvPr/>
        </p:nvSpPr>
        <p:spPr>
          <a:xfrm>
            <a:off x="6309360" y="2926080"/>
            <a:ext cx="5303520" cy="1188720"/>
          </a:xfrm>
          <a:prstGeom prst="roundRect">
            <a:avLst>
              <a:gd name="adj" fmla="val 9231"/>
            </a:avLst>
          </a:prstGeom>
          <a:solidFill>
            <a:schemeClr val="bg2">
              <a:alpha val="88000"/>
            </a:schemeClr>
          </a:solidFill>
          <a:ln w="22225">
            <a:solidFill>
              <a:schemeClr val="accent2">
                <a:alpha val="90000"/>
              </a:schemeClr>
            </a:solidFill>
            <a:prstDash val="solid"/>
          </a:ln>
        </p:spPr>
      </p:sp>
      <p:sp>
        <p:nvSpPr>
          <p:cNvPr id="22" name="badge"/>
          <p:cNvSpPr/>
          <p:nvPr/>
        </p:nvSpPr>
        <p:spPr>
          <a:xfrm>
            <a:off x="6537960" y="3291840"/>
            <a:ext cx="457200" cy="457200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537960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7223760" y="31546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Posts do usuário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7223760" y="35661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title de cada post</a:t>
            </a:r>
            <a:endParaRPr lang="en-US" sz="1500" dirty="0"/>
          </a:p>
        </p:txBody>
      </p:sp>
      <p:sp>
        <p:nvSpPr>
          <p:cNvPr id="26" name="card"/>
          <p:cNvSpPr/>
          <p:nvPr/>
        </p:nvSpPr>
        <p:spPr>
          <a:xfrm>
            <a:off x="6309360" y="4297680"/>
            <a:ext cx="5303520" cy="1188720"/>
          </a:xfrm>
          <a:prstGeom prst="roundRect">
            <a:avLst>
              <a:gd name="adj" fmla="val 9231"/>
            </a:avLst>
          </a:prstGeom>
          <a:solidFill>
            <a:schemeClr val="bg2">
              <a:alpha val="88000"/>
            </a:schemeClr>
          </a:solidFill>
          <a:ln w="22225">
            <a:solidFill>
              <a:schemeClr val="accent4">
                <a:alpha val="90000"/>
              </a:schemeClr>
            </a:solidFill>
            <a:prstDash val="solid"/>
          </a:ln>
        </p:spPr>
      </p:sp>
      <p:sp>
        <p:nvSpPr>
          <p:cNvPr id="27" name="badge"/>
          <p:cNvSpPr/>
          <p:nvPr/>
        </p:nvSpPr>
        <p:spPr>
          <a:xfrm>
            <a:off x="6537960" y="4663440"/>
            <a:ext cx="457200" cy="457200"/>
          </a:xfrm>
          <a:prstGeom prst="ellipse">
            <a:avLst/>
          </a:prstGeom>
          <a:solidFill>
            <a:schemeClr val="accent4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537960" y="4663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7223760" y="45262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Comentários de cada post</a:t>
            </a:r>
            <a:endParaRPr lang="en-US" sz="2000" dirty="0"/>
          </a:p>
        </p:txBody>
      </p:sp>
      <p:sp>
        <p:nvSpPr>
          <p:cNvPr id="30" name="Text 28"/>
          <p:cNvSpPr txBox="1"/>
          <p:nvPr/>
        </p:nvSpPr>
        <p:spPr>
          <a:xfrm>
            <a:off x="7223760" y="49377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 + nome do autor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6309360" y="57150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6"/>
                </a:solidFill>
              </a:rPr>
              <a:t>Pergunta: quantas chamadas REST isso vai custar?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858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 txBox="1"/>
          <p:nvPr>
            <p:ph idx="101" type="title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REST: uma viagem para cada pedaço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PROBLEMA 1 · UNDERFETCHING</a:t>
            </a:r>
            <a:endParaRPr lang="en-US" sz="1200" dirty="0"/>
          </a:p>
        </p:txBody>
      </p:sp>
      <p:sp>
        <p:nvSpPr>
          <p:cNvPr id="4" name="card"/>
          <p:cNvSpPr/>
          <p:nvPr/>
        </p:nvSpPr>
        <p:spPr>
          <a:xfrm>
            <a:off x="548640" y="1508760"/>
            <a:ext cx="11064240" cy="3977640"/>
          </a:xfrm>
          <a:prstGeom prst="roundRect">
            <a:avLst>
              <a:gd name="adj" fmla="val 2759"/>
            </a:avLst>
          </a:prstGeom>
          <a:solidFill>
            <a:schemeClr val="bg2">
              <a:alpha val="88000"/>
            </a:schemeClr>
          </a:solidFill>
          <a:ln w="9525">
            <a:solidFill>
              <a:schemeClr val="tx2">
                <a:alpha val="35000"/>
              </a:scheme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002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REST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3931920" y="16002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tempo →</a:t>
            </a:r>
            <a:endParaRPr lang="en-US" sz="1300" dirty="0"/>
          </a:p>
        </p:txBody>
      </p:sp>
      <p:sp>
        <p:nvSpPr>
          <p:cNvPr id="7" name="badge"/>
          <p:cNvSpPr/>
          <p:nvPr/>
        </p:nvSpPr>
        <p:spPr>
          <a:xfrm>
            <a:off x="777240" y="2048256"/>
            <a:ext cx="329184" cy="329184"/>
          </a:xfrm>
          <a:prstGeom prst="ellipse">
            <a:avLst/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20482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2011680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/users/2</a:t>
            </a:r>
            <a:endParaRPr lang="en-US" sz="1400" dirty="0"/>
          </a:p>
        </p:txBody>
      </p:sp>
      <p:sp>
        <p:nvSpPr>
          <p:cNvPr id="10" name="bar"/>
          <p:cNvSpPr/>
          <p:nvPr/>
        </p:nvSpPr>
        <p:spPr>
          <a:xfrm>
            <a:off x="3931920" y="2011680"/>
            <a:ext cx="1664208" cy="402336"/>
          </a:xfrm>
          <a:prstGeom prst="roundRect">
            <a:avLst>
              <a:gd name="adj" fmla="val 22727"/>
            </a:avLst>
          </a:prstGeom>
          <a:solidFill>
            <a:schemeClr val="accent3">
              <a:alpha val="45000"/>
            </a:schemeClr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931920" y="2011680"/>
            <a:ext cx="16642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200 ms · nome e bio</a:t>
            </a:r>
            <a:endParaRPr lang="en-US" sz="1200" dirty="0"/>
          </a:p>
        </p:txBody>
      </p:sp>
      <p:sp>
        <p:nvSpPr>
          <p:cNvPr id="12" name="badge"/>
          <p:cNvSpPr/>
          <p:nvPr/>
        </p:nvSpPr>
        <p:spPr>
          <a:xfrm>
            <a:off x="777240" y="2615184"/>
            <a:ext cx="329184" cy="329184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26151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2578608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/users/2/posts</a:t>
            </a:r>
            <a:endParaRPr lang="en-US" sz="1400" dirty="0"/>
          </a:p>
        </p:txBody>
      </p:sp>
      <p:sp>
        <p:nvSpPr>
          <p:cNvPr id="15" name="bar"/>
          <p:cNvSpPr/>
          <p:nvPr/>
        </p:nvSpPr>
        <p:spPr>
          <a:xfrm>
            <a:off x="5669280" y="2578608"/>
            <a:ext cx="1664208" cy="402336"/>
          </a:xfrm>
          <a:prstGeom prst="roundRect">
            <a:avLst>
              <a:gd name="adj" fmla="val 22727"/>
            </a:avLst>
          </a:prstGeom>
          <a:solidFill>
            <a:schemeClr val="accent2">
              <a:alpha val="45000"/>
            </a:schemeClr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669280" y="2578608"/>
            <a:ext cx="16642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200 ms · 3 posts</a:t>
            </a:r>
            <a:endParaRPr lang="en-US" sz="1200" dirty="0"/>
          </a:p>
        </p:txBody>
      </p:sp>
      <p:sp>
        <p:nvSpPr>
          <p:cNvPr id="17" name="badge"/>
          <p:cNvSpPr/>
          <p:nvPr/>
        </p:nvSpPr>
        <p:spPr>
          <a:xfrm>
            <a:off x="777240" y="3182112"/>
            <a:ext cx="329184" cy="329184"/>
          </a:xfrm>
          <a:prstGeom prst="ellipse">
            <a:avLst/>
          </a:prstGeom>
          <a:solidFill>
            <a:schemeClr val="accent4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" y="31821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3145536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/posts/3/comments</a:t>
            </a:r>
            <a:endParaRPr lang="en-US" sz="1400" dirty="0"/>
          </a:p>
        </p:txBody>
      </p:sp>
      <p:sp>
        <p:nvSpPr>
          <p:cNvPr id="20" name="bar"/>
          <p:cNvSpPr/>
          <p:nvPr/>
        </p:nvSpPr>
        <p:spPr>
          <a:xfrm>
            <a:off x="7406640" y="3145536"/>
            <a:ext cx="1664208" cy="402336"/>
          </a:xfrm>
          <a:prstGeom prst="roundRect">
            <a:avLst>
              <a:gd name="adj" fmla="val 22727"/>
            </a:avLst>
          </a:prstGeom>
          <a:solidFill>
            <a:schemeClr val="accent4">
              <a:alpha val="45000"/>
            </a:schemeClr>
          </a:solidFill>
          <a:ln w="19050">
            <a:solidFill>
              <a:schemeClr val="accent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406640" y="3145536"/>
            <a:ext cx="16642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200 ms · 1</a:t>
            </a:r>
            <a:endParaRPr lang="en-US" sz="1200" dirty="0"/>
          </a:p>
        </p:txBody>
      </p:sp>
      <p:sp>
        <p:nvSpPr>
          <p:cNvPr id="22" name="badge"/>
          <p:cNvSpPr/>
          <p:nvPr/>
        </p:nvSpPr>
        <p:spPr>
          <a:xfrm>
            <a:off x="777240" y="3749040"/>
            <a:ext cx="329184" cy="329184"/>
          </a:xfrm>
          <a:prstGeom prst="ellipse">
            <a:avLst/>
          </a:prstGeom>
          <a:solidFill>
            <a:schemeClr val="accent4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77240" y="37490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234440" y="3712464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/posts/4/comments</a:t>
            </a:r>
            <a:endParaRPr lang="en-US" sz="1400" dirty="0"/>
          </a:p>
        </p:txBody>
      </p:sp>
      <p:sp>
        <p:nvSpPr>
          <p:cNvPr id="25" name="bar"/>
          <p:cNvSpPr/>
          <p:nvPr/>
        </p:nvSpPr>
        <p:spPr>
          <a:xfrm>
            <a:off x="7406640" y="3712464"/>
            <a:ext cx="1664208" cy="402336"/>
          </a:xfrm>
          <a:prstGeom prst="roundRect">
            <a:avLst>
              <a:gd name="adj" fmla="val 22727"/>
            </a:avLst>
          </a:prstGeom>
          <a:solidFill>
            <a:schemeClr val="accent4">
              <a:alpha val="45000"/>
            </a:schemeClr>
          </a:solidFill>
          <a:ln w="19050">
            <a:solidFill>
              <a:schemeClr val="accent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406640" y="3712464"/>
            <a:ext cx="16642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200 ms · 3</a:t>
            </a:r>
            <a:endParaRPr lang="en-US" sz="1200" dirty="0"/>
          </a:p>
        </p:txBody>
      </p:sp>
      <p:sp>
        <p:nvSpPr>
          <p:cNvPr id="27" name="badge"/>
          <p:cNvSpPr/>
          <p:nvPr/>
        </p:nvSpPr>
        <p:spPr>
          <a:xfrm>
            <a:off x="777240" y="4315968"/>
            <a:ext cx="329184" cy="329184"/>
          </a:xfrm>
          <a:prstGeom prst="ellipse">
            <a:avLst/>
          </a:prstGeom>
          <a:solidFill>
            <a:schemeClr val="accent4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77240" y="43159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1234440" y="4279392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/posts/5/comments</a:t>
            </a:r>
            <a:endParaRPr lang="en-US" sz="1400" dirty="0"/>
          </a:p>
        </p:txBody>
      </p:sp>
      <p:sp>
        <p:nvSpPr>
          <p:cNvPr id="30" name="bar"/>
          <p:cNvSpPr/>
          <p:nvPr/>
        </p:nvSpPr>
        <p:spPr>
          <a:xfrm>
            <a:off x="7406640" y="4279392"/>
            <a:ext cx="1664208" cy="402336"/>
          </a:xfrm>
          <a:prstGeom prst="roundRect">
            <a:avLst>
              <a:gd name="adj" fmla="val 22727"/>
            </a:avLst>
          </a:prstGeom>
          <a:solidFill>
            <a:schemeClr val="accent4">
              <a:alpha val="45000"/>
            </a:schemeClr>
          </a:solidFill>
          <a:ln w="19050">
            <a:solidFill>
              <a:schemeClr val="accent4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406640" y="4279392"/>
            <a:ext cx="16642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200 ms · 1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9326880" y="28346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5"/>
                </a:solidFill>
              </a:rPr>
              <a:t>≈ 600 ms</a:t>
            </a:r>
            <a:endParaRPr lang="en-US" sz="3000" dirty="0"/>
          </a:p>
        </p:txBody>
      </p:sp>
      <p:sp>
        <p:nvSpPr>
          <p:cNvPr id="33" name="Text 31"/>
          <p:cNvSpPr txBox="1"/>
          <p:nvPr/>
        </p:nvSpPr>
        <p:spPr>
          <a:xfrm>
            <a:off x="9326880" y="34290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3 rodadas de espera, cada uma depende da anterior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777240" y="4937760"/>
            <a:ext cx="10607040" cy="0"/>
          </a:xfrm>
          <a:prstGeom prst="line">
            <a:avLst/>
          </a:prstGeom>
          <a:noFill/>
          <a:ln w="9525">
            <a:solidFill>
              <a:schemeClr val="tx2">
                <a:alpha val="50000"/>
              </a:schemeClr>
            </a:solidFill>
            <a:prstDash val="dash"/>
          </a:ln>
        </p:spPr>
      </p:sp>
      <p:sp>
        <p:nvSpPr>
          <p:cNvPr id="35" name="badge"/>
          <p:cNvSpPr/>
          <p:nvPr/>
        </p:nvSpPr>
        <p:spPr>
          <a:xfrm>
            <a:off x="777240" y="5047488"/>
            <a:ext cx="329184" cy="329184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77240" y="50474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Q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1234440" y="50292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/v1/graphql</a:t>
            </a:r>
            <a:endParaRPr lang="en-US" sz="1400" dirty="0"/>
          </a:p>
        </p:txBody>
      </p:sp>
      <p:sp>
        <p:nvSpPr>
          <p:cNvPr id="38" name="bar"/>
          <p:cNvSpPr/>
          <p:nvPr/>
        </p:nvSpPr>
        <p:spPr>
          <a:xfrm>
            <a:off x="3931920" y="5029200"/>
            <a:ext cx="1664208" cy="365760"/>
          </a:xfrm>
          <a:prstGeom prst="roundRect">
            <a:avLst>
              <a:gd name="adj" fmla="val 25000"/>
            </a:avLst>
          </a:prstGeom>
          <a:solidFill>
            <a:schemeClr val="accent2">
              <a:alpha val="55000"/>
            </a:schemeClr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3931920" y="5029200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200 ms · tudo junto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5943600" y="49834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4"/>
                </a:solidFill>
              </a:rPr>
              <a:t>≈ 200 ms</a:t>
            </a:r>
            <a:endParaRPr lang="en-US" sz="2600" dirty="0"/>
          </a:p>
        </p:txBody>
      </p:sp>
      <p:sp>
        <p:nvSpPr>
          <p:cNvPr id="41" name="Text 39"/>
          <p:cNvSpPr txBox="1"/>
          <p:nvPr/>
        </p:nvSpPr>
        <p:spPr>
          <a:xfrm>
            <a:off x="7863840" y="5074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Tempos ilustrativos: 200 ms por viagem</a:t>
            </a:r>
            <a:endParaRPr lang="en-US" sz="1200" dirty="0"/>
          </a:p>
        </p:txBody>
      </p:sp>
      <p:sp>
        <p:nvSpPr>
          <p:cNvPr id="42" name="card"/>
          <p:cNvSpPr/>
          <p:nvPr/>
        </p:nvSpPr>
        <p:spPr>
          <a:xfrm>
            <a:off x="548640" y="5623560"/>
            <a:ext cx="11064240" cy="685800"/>
          </a:xfrm>
          <a:prstGeom prst="roundRect">
            <a:avLst>
              <a:gd name="adj" fmla="val 16000"/>
            </a:avLst>
          </a:prstGeom>
          <a:solidFill>
            <a:schemeClr val="bg2">
              <a:alpha val="88000"/>
            </a:schemeClr>
          </a:solidFill>
          <a:ln w="22225">
            <a:solidFill>
              <a:schemeClr val="accent5">
                <a:alpha val="90000"/>
              </a:schemeClr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822960" y="562356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Underfetching: 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 resposta não basta e você volta para pedir mais. São 5 chamadas em 3 rodadas.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858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 txBox="1"/>
          <p:nvPr>
            <p:ph idx="101" type="title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REST: e quando vem coisa demais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PROBLEMA 2 · OVERFETCHING</a:t>
            </a:r>
            <a:endParaRPr lang="en-US" sz="1200" dirty="0"/>
          </a:p>
        </p:txBody>
      </p:sp>
      <p:sp>
        <p:nvSpPr>
          <p:cNvPr id="4" name="code-card"/>
          <p:cNvSpPr/>
          <p:nvPr/>
        </p:nvSpPr>
        <p:spPr>
          <a:xfrm>
            <a:off x="548640" y="1554480"/>
            <a:ext cx="6035040" cy="3310128"/>
          </a:xfrm>
          <a:prstGeom prst="roundRect">
            <a:avLst>
              <a:gd name="adj" fmla="val 3315"/>
            </a:avLst>
          </a:prstGeom>
          <a:solidFill>
            <a:schemeClr val="bg2">
              <a:alpha val="88000"/>
            </a:schemeClr>
          </a:solidFill>
          <a:ln w="9525">
            <a:solidFill>
              <a:schemeClr val="tx2">
                <a:alpha val="35000"/>
              </a:scheme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13232" y="1627632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tx2"/>
                </a:solidFill>
              </a:rPr>
              <a:t>RESPOSTA DO SERVIDOR</a:t>
            </a:r>
            <a:endParaRPr lang="en-US" sz="1100" dirty="0"/>
          </a:p>
        </p:txBody>
      </p:sp>
      <p:sp>
        <p:nvSpPr>
          <p:cNvPr id="6" name="code"/>
          <p:cNvSpPr txBox="1"/>
          <p:nvPr/>
        </p:nvSpPr>
        <p:spPr>
          <a:xfrm>
            <a:off x="713232" y="2048256"/>
            <a:ext cx="5705856" cy="2651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320"/>
              </a:lnSpc>
              <a:buNone/>
            </a:pPr>
            <a:r>
              <a:rPr lang="en-US" sz="16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/users/2</a:t>
            </a:r>
            <a:pPr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pPr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</a:t>
            </a:r>
            <a:pPr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OK</a:t>
            </a:r>
            <a:endParaRPr lang="en-US" sz="1600" dirty="0"/>
          </a:p>
          <a:p>
            <a:pPr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600" dirty="0"/>
          </a:p>
          <a:p>
            <a:pPr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2320"/>
              </a:lnSpc>
              <a:buNone/>
            </a:pPr>
            <a:r>
              <a:rPr lang="en-US" sz="1600" b="1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"id": 2</a:t>
            </a:r>
            <a:pPr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600" dirty="0"/>
          </a:p>
          <a:p>
            <a:pPr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2320"/>
              </a:lnSpc>
              <a:buNone/>
            </a:pPr>
            <a:r>
              <a:rPr lang="en-US" sz="1600" b="1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"name": "Noah Xavier"</a:t>
            </a:r>
            <a:pPr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600" dirty="0"/>
          </a:p>
          <a:p>
            <a:pPr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2320"/>
              </a:lnSpc>
              <a:buNone/>
            </a:pPr>
            <a:r>
              <a:rPr lang="en-US" sz="1600" b="1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"username": "noah.xavier.2"</a:t>
            </a:r>
            <a:pPr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600" dirty="0"/>
          </a:p>
          <a:p>
            <a:pPr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2320"/>
              </a:lnSpc>
              <a:buNone/>
            </a:pPr>
            <a:r>
              <a:rPr lang="en-US" sz="1600" b="1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"email": "user2@graphqlab.dev"</a:t>
            </a:r>
            <a:pPr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600" dirty="0"/>
          </a:p>
          <a:p>
            <a:pPr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2320"/>
              </a:lnSpc>
              <a:buNone/>
            </a:pPr>
            <a:r>
              <a:rPr lang="en-US" sz="1600" b="1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"bio": "designer, designer"</a:t>
            </a:r>
            <a:pPr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600" dirty="0"/>
          </a:p>
          <a:p>
            <a:pPr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2320"/>
              </a:lnSpc>
              <a:buNone/>
            </a:pPr>
            <a:r>
              <a:rPr lang="en-US" sz="1600" b="1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"created_at": "2026-10-26T19:50:12Z"</a:t>
            </a:r>
            <a:endParaRPr lang="en-US" sz="1600" dirty="0"/>
          </a:p>
          <a:p>
            <a:pPr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600" dirty="0"/>
          </a:p>
        </p:txBody>
      </p:sp>
      <p:sp>
        <p:nvSpPr>
          <p:cNvPr id="7" name="card"/>
          <p:cNvSpPr/>
          <p:nvPr/>
        </p:nvSpPr>
        <p:spPr>
          <a:xfrm>
            <a:off x="6949440" y="1554480"/>
            <a:ext cx="4663440" cy="3017520"/>
          </a:xfrm>
          <a:prstGeom prst="roundRect">
            <a:avLst>
              <a:gd name="adj" fmla="val 3636"/>
            </a:avLst>
          </a:prstGeom>
          <a:solidFill>
            <a:schemeClr val="bg2">
              <a:alpha val="88000"/>
            </a:schemeClr>
          </a:solidFill>
          <a:ln w="22225">
            <a:solidFill>
              <a:schemeClr val="accent5">
                <a:alpha val="90000"/>
              </a:schemeClr>
            </a:solidFill>
            <a:prstDash val="solid"/>
          </a:ln>
        </p:spPr>
      </p:sp>
      <p:pic>
        <p:nvPicPr>
          <p:cNvPr id="8" name="Image 0" descr="Caixa com seis campos; só dois chegam ao celula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178040" y="16459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5"/>
                </a:solidFill>
              </a:rPr>
              <a:t>2 de 6</a:t>
            </a:r>
            <a:endParaRPr lang="en-US" sz="4400" dirty="0"/>
          </a:p>
        </p:txBody>
      </p:sp>
      <p:sp>
        <p:nvSpPr>
          <p:cNvPr id="10" name="Text 7"/>
          <p:cNvSpPr txBox="1"/>
          <p:nvPr/>
        </p:nvSpPr>
        <p:spPr>
          <a:xfrm>
            <a:off x="9372600" y="17830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campos que a tela usa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7132320" y="42519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desperdiçado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10241280" y="42519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na tela</a:t>
            </a:r>
            <a:endParaRPr lang="en-US" sz="1400" dirty="0"/>
          </a:p>
        </p:txBody>
      </p:sp>
      <p:sp>
        <p:nvSpPr>
          <p:cNvPr id="13" name="card"/>
          <p:cNvSpPr/>
          <p:nvPr/>
        </p:nvSpPr>
        <p:spPr>
          <a:xfrm>
            <a:off x="548640" y="4892040"/>
            <a:ext cx="11064240" cy="1371600"/>
          </a:xfrm>
          <a:prstGeom prst="roundRect">
            <a:avLst>
              <a:gd name="adj" fmla="val 8000"/>
            </a:avLst>
          </a:prstGeom>
          <a:solidFill>
            <a:schemeClr val="bg2">
              <a:alpha val="88000"/>
            </a:schemeClr>
          </a:solidFill>
          <a:ln w="22225">
            <a:solidFill>
              <a:schemeClr val="accent5">
                <a:alpha val="90000"/>
              </a:scheme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22960" y="489204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5"/>
                </a:solidFill>
              </a:rPr>
              <a:t>Overfetching: </a:t>
            </a:r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a API manda campos que a tela não usa. Com 6 campos é pouco, mas imagine o body de cada post numa lista de 50 itens, no 4G. O servidor não sabe o que a sua tela precisa.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858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body" hasCustomPrompt="1"/>
          </p:nvPr>
        </p:nvSpPr>
        <p:spPr>
          <a:xfrm>
            <a:off x="731520" y="21031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400" kern="0" dirty="0">
                <a:solidFill>
                  <a:schemeClr val="accent2"/>
                </a:solidFill>
              </a:rPr>
              <a:t>PARTE 2</a:t>
            </a:r>
            <a:endParaRPr lang="en-US" sz="1600" dirty="0"/>
          </a:p>
        </p:txBody>
      </p:sp>
      <p:sp>
        <p:nvSpPr>
          <p:cNvPr id="3" name="Text 0"/>
          <p:cNvSpPr txBox="1"/>
          <p:nvPr>
            <p:ph idx="101" type="title" hasCustomPrompt="1"/>
          </p:nvPr>
        </p:nvSpPr>
        <p:spPr>
          <a:xfrm>
            <a:off x="731520" y="2514600"/>
            <a:ext cx="7498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tx1"/>
                </a:solidFill>
              </a:rPr>
              <a:t>GraphQL em 5 peças</a:t>
            </a:r>
            <a:endParaRPr lang="en-US" sz="4800" dirty="0"/>
          </a:p>
        </p:txBody>
      </p:sp>
      <p:sp>
        <p:nvSpPr>
          <p:cNvPr id="4" name="Text 0"/>
          <p:cNvSpPr txBox="1"/>
          <p:nvPr>
            <p:ph idx="102" type="body" hasCustomPrompt="1"/>
          </p:nvPr>
        </p:nvSpPr>
        <p:spPr>
          <a:xfrm>
            <a:off x="731520" y="379476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Schema, Query, Variável, Mutation e Resolver. Só isso.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863840" y="1280160"/>
            <a:ext cx="38404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b="1" dirty="0">
                <a:solidFill>
                  <a:schemeClr val="accent2">
                    <a:alpha val="18000"/>
                  </a:schemeClr>
                </a:solidFill>
              </a:rPr>
              <a:t>02</a:t>
            </a:r>
            <a:endParaRPr lang="en-US" sz="20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 txBox="1"/>
          <p:nvPr>
            <p:ph idx="101" type="title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Dicionário: tudo é restaurante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VOCABULÁRIO ANTES DO CÓDIGO</a:t>
            </a:r>
            <a:endParaRPr lang="en-US" sz="1200" dirty="0"/>
          </a:p>
        </p:txBody>
      </p:sp>
      <p:sp>
        <p:nvSpPr>
          <p:cNvPr id="4" name="card"/>
          <p:cNvSpPr/>
          <p:nvPr/>
        </p:nvSpPr>
        <p:spPr>
          <a:xfrm>
            <a:off x="548640" y="1554480"/>
            <a:ext cx="3566160" cy="2194560"/>
          </a:xfrm>
          <a:prstGeom prst="roundRect">
            <a:avLst>
              <a:gd name="adj" fmla="val 5000"/>
            </a:avLst>
          </a:prstGeom>
          <a:solidFill>
            <a:schemeClr val="bg2">
              <a:alpha val="88000"/>
            </a:schemeClr>
          </a:solidFill>
          <a:ln w="22225">
            <a:solidFill>
              <a:schemeClr val="accent3">
                <a:alpha val="90000"/>
              </a:schemeClr>
            </a:solidFill>
            <a:prstDash val="solid"/>
          </a:ln>
        </p:spPr>
      </p:sp>
      <p:sp>
        <p:nvSpPr>
          <p:cNvPr id="5" name="icon-bg"/>
          <p:cNvSpPr/>
          <p:nvPr/>
        </p:nvSpPr>
        <p:spPr>
          <a:xfrm>
            <a:off x="777240" y="1783080"/>
            <a:ext cx="777240" cy="777240"/>
          </a:xfrm>
          <a:prstGeom prst="ellipse">
            <a:avLst/>
          </a:prstGeom>
          <a:solidFill>
            <a:schemeClr val="accent3">
              <a:alpha val="20000"/>
            </a:schemeClr>
          </a:solidFill>
          <a:ln w="12700">
            <a:solidFill>
              <a:schemeClr val="accent3">
                <a:alpha val="60000"/>
              </a:schemeClr>
            </a:solidFill>
            <a:prstDash val="solid"/>
          </a:ln>
        </p:spPr>
      </p:sp>
      <p:pic>
        <p:nvPicPr>
          <p:cNvPr id="6" name="Image 0" descr="Book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550" y="1977390"/>
            <a:ext cx="388620" cy="3886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91640" y="17373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3"/>
                </a:solidFill>
              </a:rPr>
              <a:t>Schema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1691640" y="217627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= o cardápio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74320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Lista de tudo que existe e do tipo de cada coisa. É o contrato entre front e back.</a:t>
            </a:r>
            <a:endParaRPr lang="en-US" sz="1600" dirty="0"/>
          </a:p>
        </p:txBody>
      </p:sp>
      <p:sp>
        <p:nvSpPr>
          <p:cNvPr id="10" name="card"/>
          <p:cNvSpPr/>
          <p:nvPr/>
        </p:nvSpPr>
        <p:spPr>
          <a:xfrm>
            <a:off x="4297680" y="1554480"/>
            <a:ext cx="3566160" cy="2194560"/>
          </a:xfrm>
          <a:prstGeom prst="roundRect">
            <a:avLst>
              <a:gd name="adj" fmla="val 5000"/>
            </a:avLst>
          </a:prstGeom>
          <a:solidFill>
            <a:schemeClr val="bg2">
              <a:alpha val="88000"/>
            </a:schemeClr>
          </a:solidFill>
          <a:ln w="22225">
            <a:solidFill>
              <a:schemeClr val="accent2">
                <a:alpha val="90000"/>
              </a:schemeClr>
            </a:solidFill>
            <a:prstDash val="solid"/>
          </a:ln>
        </p:spPr>
      </p:sp>
      <p:sp>
        <p:nvSpPr>
          <p:cNvPr id="11" name="icon-bg"/>
          <p:cNvSpPr/>
          <p:nvPr/>
        </p:nvSpPr>
        <p:spPr>
          <a:xfrm>
            <a:off x="4526280" y="1783080"/>
            <a:ext cx="777240" cy="777240"/>
          </a:xfrm>
          <a:prstGeom prst="ellipse">
            <a:avLst/>
          </a:prstGeom>
          <a:solidFill>
            <a:schemeClr val="accent2">
              <a:alpha val="20000"/>
            </a:schemeClr>
          </a:solidFill>
          <a:ln w="12700">
            <a:solidFill>
              <a:schemeClr val="accent2">
                <a:alpha val="60000"/>
              </a:schemeClr>
            </a:solidFill>
            <a:prstDash val="solid"/>
          </a:ln>
        </p:spPr>
      </p:sp>
      <p:pic>
        <p:nvPicPr>
          <p:cNvPr id="12" name="Image 1" descr="ConciergeBell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0590" y="1977390"/>
            <a:ext cx="388620" cy="38862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440680" y="17373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Query</a:t>
            </a:r>
            <a:endParaRPr lang="en-US" sz="2400" dirty="0"/>
          </a:p>
        </p:txBody>
      </p:sp>
      <p:sp>
        <p:nvSpPr>
          <p:cNvPr id="14" name="Text 10"/>
          <p:cNvSpPr txBox="1"/>
          <p:nvPr/>
        </p:nvSpPr>
        <p:spPr>
          <a:xfrm>
            <a:off x="5440680" y="217627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= fazer um pedido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4526280" y="274320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Pedido só de leitura: você escolhe quais campos quer receber.</a:t>
            </a:r>
            <a:endParaRPr lang="en-US" sz="1600" dirty="0"/>
          </a:p>
        </p:txBody>
      </p:sp>
      <p:sp>
        <p:nvSpPr>
          <p:cNvPr id="16" name="card"/>
          <p:cNvSpPr/>
          <p:nvPr/>
        </p:nvSpPr>
        <p:spPr>
          <a:xfrm>
            <a:off x="8046720" y="1554480"/>
            <a:ext cx="3566160" cy="2194560"/>
          </a:xfrm>
          <a:prstGeom prst="roundRect">
            <a:avLst>
              <a:gd name="adj" fmla="val 5000"/>
            </a:avLst>
          </a:prstGeom>
          <a:solidFill>
            <a:schemeClr val="bg2">
              <a:alpha val="88000"/>
            </a:schemeClr>
          </a:solidFill>
          <a:ln w="22225">
            <a:solidFill>
              <a:schemeClr val="accent4">
                <a:alpha val="90000"/>
              </a:schemeClr>
            </a:solidFill>
            <a:prstDash val="solid"/>
          </a:ln>
        </p:spPr>
      </p:sp>
      <p:sp>
        <p:nvSpPr>
          <p:cNvPr id="17" name="icon-bg"/>
          <p:cNvSpPr/>
          <p:nvPr/>
        </p:nvSpPr>
        <p:spPr>
          <a:xfrm>
            <a:off x="8275320" y="1783080"/>
            <a:ext cx="777240" cy="777240"/>
          </a:xfrm>
          <a:prstGeom prst="ellipse">
            <a:avLst/>
          </a:prstGeom>
          <a:solidFill>
            <a:schemeClr val="accent4">
              <a:alpha val="20000"/>
            </a:schemeClr>
          </a:solidFill>
          <a:ln w="12700">
            <a:solidFill>
              <a:schemeClr val="accent4">
                <a:alpha val="60000"/>
              </a:schemeClr>
            </a:solidFill>
            <a:prstDash val="solid"/>
          </a:ln>
        </p:spPr>
      </p:sp>
      <p:pic>
        <p:nvPicPr>
          <p:cNvPr id="18" name="Image 2" descr="Pen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9630" y="1977390"/>
            <a:ext cx="388620" cy="38862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9189720" y="17373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4"/>
                </a:solidFill>
              </a:rPr>
              <a:t>Mutation</a:t>
            </a:r>
            <a:endParaRPr lang="en-US" sz="2400" dirty="0"/>
          </a:p>
        </p:txBody>
      </p:sp>
      <p:sp>
        <p:nvSpPr>
          <p:cNvPr id="20" name="Text 15"/>
          <p:cNvSpPr txBox="1"/>
          <p:nvPr/>
        </p:nvSpPr>
        <p:spPr>
          <a:xfrm>
            <a:off x="9189720" y="217627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= reservar a mesa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8275320" y="274320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Pedido que muda coisas: criar, editar ou apagar dados.</a:t>
            </a:r>
            <a:endParaRPr lang="en-US" sz="1600" dirty="0"/>
          </a:p>
        </p:txBody>
      </p:sp>
      <p:sp>
        <p:nvSpPr>
          <p:cNvPr id="22" name="card"/>
          <p:cNvSpPr/>
          <p:nvPr/>
        </p:nvSpPr>
        <p:spPr>
          <a:xfrm>
            <a:off x="548640" y="3931920"/>
            <a:ext cx="3566160" cy="2194560"/>
          </a:xfrm>
          <a:prstGeom prst="roundRect">
            <a:avLst>
              <a:gd name="adj" fmla="val 5000"/>
            </a:avLst>
          </a:prstGeom>
          <a:solidFill>
            <a:schemeClr val="bg2">
              <a:alpha val="88000"/>
            </a:schemeClr>
          </a:solidFill>
          <a:ln w="22225">
            <a:solidFill>
              <a:schemeClr val="accent6">
                <a:alpha val="90000"/>
              </a:schemeClr>
            </a:solidFill>
            <a:prstDash val="solid"/>
          </a:ln>
        </p:spPr>
      </p:sp>
      <p:sp>
        <p:nvSpPr>
          <p:cNvPr id="23" name="icon-bg"/>
          <p:cNvSpPr/>
          <p:nvPr/>
        </p:nvSpPr>
        <p:spPr>
          <a:xfrm>
            <a:off x="777240" y="4160520"/>
            <a:ext cx="777240" cy="777240"/>
          </a:xfrm>
          <a:prstGeom prst="ellipse">
            <a:avLst/>
          </a:prstGeom>
          <a:solidFill>
            <a:schemeClr val="accent6">
              <a:alpha val="20000"/>
            </a:schemeClr>
          </a:solidFill>
          <a:ln w="12700">
            <a:solidFill>
              <a:schemeClr val="accent6">
                <a:alpha val="60000"/>
              </a:schemeClr>
            </a:solidFill>
            <a:prstDash val="solid"/>
          </a:ln>
        </p:spPr>
      </p:sp>
      <p:pic>
        <p:nvPicPr>
          <p:cNvPr id="24" name="Image 3" descr="SlidersH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550" y="4354830"/>
            <a:ext cx="388620" cy="38862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691640" y="41148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6"/>
                </a:solidFill>
              </a:rPr>
              <a:t>Variável</a:t>
            </a:r>
            <a:endParaRPr lang="en-US" sz="2400" dirty="0"/>
          </a:p>
        </p:txBody>
      </p:sp>
      <p:sp>
        <p:nvSpPr>
          <p:cNvPr id="26" name="Text 20"/>
          <p:cNvSpPr txBox="1"/>
          <p:nvPr/>
        </p:nvSpPr>
        <p:spPr>
          <a:xfrm>
            <a:off x="1691640" y="455371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= o "sem cebola"</a:t>
            </a:r>
            <a:endParaRPr lang="en-US" sz="1600" dirty="0"/>
          </a:p>
        </p:txBody>
      </p:sp>
      <p:sp>
        <p:nvSpPr>
          <p:cNvPr id="27" name="Text 21"/>
          <p:cNvSpPr txBox="1"/>
          <p:nvPr/>
        </p:nvSpPr>
        <p:spPr>
          <a:xfrm>
            <a:off x="777240" y="512064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Valor que muda a cada pedido (como $id) sem reescrever o pedido.</a:t>
            </a:r>
            <a:endParaRPr lang="en-US" sz="1600" dirty="0"/>
          </a:p>
        </p:txBody>
      </p:sp>
      <p:sp>
        <p:nvSpPr>
          <p:cNvPr id="28" name="card"/>
          <p:cNvSpPr/>
          <p:nvPr/>
        </p:nvSpPr>
        <p:spPr>
          <a:xfrm>
            <a:off x="4297680" y="3931920"/>
            <a:ext cx="3566160" cy="2194560"/>
          </a:xfrm>
          <a:prstGeom prst="roundRect">
            <a:avLst>
              <a:gd name="adj" fmla="val 5000"/>
            </a:avLst>
          </a:prstGeom>
          <a:solidFill>
            <a:schemeClr val="bg2">
              <a:alpha val="88000"/>
            </a:schemeClr>
          </a:solidFill>
          <a:ln w="22225">
            <a:solidFill>
              <a:schemeClr val="accent1">
                <a:alpha val="90000"/>
              </a:schemeClr>
            </a:solidFill>
            <a:prstDash val="solid"/>
          </a:ln>
        </p:spPr>
      </p:sp>
      <p:sp>
        <p:nvSpPr>
          <p:cNvPr id="29" name="icon-bg"/>
          <p:cNvSpPr/>
          <p:nvPr/>
        </p:nvSpPr>
        <p:spPr>
          <a:xfrm>
            <a:off x="4526280" y="4160520"/>
            <a:ext cx="777240" cy="777240"/>
          </a:xfrm>
          <a:prstGeom prst="ellipse">
            <a:avLst/>
          </a:prstGeom>
          <a:solidFill>
            <a:schemeClr val="accent1">
              <a:alpha val="20000"/>
            </a:schemeClr>
          </a:solidFill>
          <a:ln w="12700">
            <a:solidFill>
              <a:schemeClr val="accent1">
                <a:alpha val="60000"/>
              </a:schemeClr>
            </a:solidFill>
            <a:prstDash val="solid"/>
          </a:ln>
        </p:spPr>
      </p:sp>
      <p:pic>
        <p:nvPicPr>
          <p:cNvPr id="30" name="Image 4" descr="UserTie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0590" y="4354830"/>
            <a:ext cx="388620" cy="388620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5440680" y="41148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Resolver</a:t>
            </a:r>
            <a:endParaRPr lang="en-US" sz="2400" dirty="0"/>
          </a:p>
        </p:txBody>
      </p:sp>
      <p:sp>
        <p:nvSpPr>
          <p:cNvPr id="32" name="Text 25"/>
          <p:cNvSpPr txBox="1"/>
          <p:nvPr/>
        </p:nvSpPr>
        <p:spPr>
          <a:xfrm>
            <a:off x="5440680" y="455371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= o cozinheiro</a:t>
            </a:r>
            <a:endParaRPr lang="en-US" sz="1600" dirty="0"/>
          </a:p>
        </p:txBody>
      </p:sp>
      <p:sp>
        <p:nvSpPr>
          <p:cNvPr id="33" name="Text 26"/>
          <p:cNvSpPr txBox="1"/>
          <p:nvPr/>
        </p:nvSpPr>
        <p:spPr>
          <a:xfrm>
            <a:off x="4526280" y="512064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Função no servidor que busca o dado de cada campo.</a:t>
            </a:r>
            <a:endParaRPr lang="en-US" sz="1600" dirty="0"/>
          </a:p>
        </p:txBody>
      </p:sp>
      <p:sp>
        <p:nvSpPr>
          <p:cNvPr id="34" name="card"/>
          <p:cNvSpPr/>
          <p:nvPr/>
        </p:nvSpPr>
        <p:spPr>
          <a:xfrm>
            <a:off x="8046720" y="3931920"/>
            <a:ext cx="3566160" cy="2194560"/>
          </a:xfrm>
          <a:prstGeom prst="roundRect">
            <a:avLst>
              <a:gd name="adj" fmla="val 5000"/>
            </a:avLst>
          </a:prstGeom>
          <a:solidFill>
            <a:schemeClr val="bg2">
              <a:alpha val="88000"/>
            </a:schemeClr>
          </a:solidFill>
          <a:ln w="22225">
            <a:solidFill>
              <a:schemeClr val="accent5">
                <a:alpha val="90000"/>
              </a:schemeClr>
            </a:solidFill>
            <a:prstDash val="solid"/>
          </a:ln>
        </p:spPr>
      </p:sp>
      <p:sp>
        <p:nvSpPr>
          <p:cNvPr id="35" name="icon-bg"/>
          <p:cNvSpPr/>
          <p:nvPr/>
        </p:nvSpPr>
        <p:spPr>
          <a:xfrm>
            <a:off x="8275320" y="4160520"/>
            <a:ext cx="777240" cy="777240"/>
          </a:xfrm>
          <a:prstGeom prst="ellipse">
            <a:avLst/>
          </a:prstGeom>
          <a:solidFill>
            <a:schemeClr val="accent5">
              <a:alpha val="20000"/>
            </a:schemeClr>
          </a:solidFill>
          <a:ln w="12700">
            <a:solidFill>
              <a:schemeClr val="accent5">
                <a:alpha val="60000"/>
              </a:schemeClr>
            </a:solidFill>
            <a:prstDash val="solid"/>
          </a:ln>
        </p:spPr>
      </p:sp>
      <p:pic>
        <p:nvPicPr>
          <p:cNvPr id="36" name="Image 5" descr="Tags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9630" y="4354830"/>
            <a:ext cx="388620" cy="388620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9189720" y="41148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5"/>
                </a:solidFill>
              </a:rPr>
              <a:t>Campo e tipo</a:t>
            </a:r>
            <a:endParaRPr lang="en-US" sz="2400" dirty="0"/>
          </a:p>
        </p:txBody>
      </p:sp>
      <p:sp>
        <p:nvSpPr>
          <p:cNvPr id="38" name="Text 30"/>
          <p:cNvSpPr txBox="1"/>
          <p:nvPr/>
        </p:nvSpPr>
        <p:spPr>
          <a:xfrm>
            <a:off x="9189720" y="455371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= item e tipo do prato</a:t>
            </a:r>
            <a:endParaRPr lang="en-US" sz="1600" dirty="0"/>
          </a:p>
        </p:txBody>
      </p:sp>
      <p:sp>
        <p:nvSpPr>
          <p:cNvPr id="39" name="Text 31"/>
          <p:cNvSpPr txBox="1"/>
          <p:nvPr/>
        </p:nvSpPr>
        <p:spPr>
          <a:xfrm>
            <a:off x="8275320" y="512064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Campo é cada dado (name). Tipo é o formato dele (String, Int).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858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 txBox="1"/>
          <p:nvPr>
            <p:ph idx="101" type="title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A ideia central: pergunta = resposta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PEÇA 1 · O FORMATO ESPELHADO</a:t>
            </a:r>
            <a:endParaRPr lang="en-US" sz="1200" dirty="0"/>
          </a:p>
        </p:txBody>
      </p:sp>
      <p:sp>
        <p:nvSpPr>
          <p:cNvPr id="4" name="code-card"/>
          <p:cNvSpPr/>
          <p:nvPr/>
        </p:nvSpPr>
        <p:spPr>
          <a:xfrm>
            <a:off x="548640" y="1508760"/>
            <a:ext cx="4480560" cy="3015488"/>
          </a:xfrm>
          <a:prstGeom prst="roundRect">
            <a:avLst>
              <a:gd name="adj" fmla="val 3639"/>
            </a:avLst>
          </a:prstGeom>
          <a:solidFill>
            <a:schemeClr val="bg2">
              <a:alpha val="88000"/>
            </a:schemeClr>
          </a:solidFill>
          <a:ln w="22225">
            <a:solidFill>
              <a:schemeClr val="accent2">
                <a:alpha val="90000"/>
              </a:scheme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13232" y="1581912"/>
            <a:ext cx="41513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tx2"/>
                </a:solidFill>
              </a:rPr>
              <a:t>PERGUNTA (GRAPHQL)</a:t>
            </a:r>
            <a:endParaRPr lang="en-US" sz="1100" dirty="0"/>
          </a:p>
        </p:txBody>
      </p:sp>
      <p:sp>
        <p:nvSpPr>
          <p:cNvPr id="6" name="code"/>
          <p:cNvSpPr txBox="1"/>
          <p:nvPr/>
        </p:nvSpPr>
        <p:spPr>
          <a:xfrm>
            <a:off x="713232" y="2002536"/>
            <a:ext cx="4151376" cy="2357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</a:t>
            </a:r>
            <a:pPr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600" dirty="0"/>
          </a:p>
          <a:p>
            <a:pPr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users_by_pk</a:t>
            </a:r>
            <a:pPr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pPr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600" dirty="0"/>
          </a:p>
          <a:p>
            <a:pPr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2320"/>
              </a:lnSpc>
              <a:buNone/>
            </a:pPr>
            <a:r>
              <a:rPr lang="en-US" sz="16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endParaRPr lang="en-US" sz="1600" dirty="0"/>
          </a:p>
          <a:p>
            <a:pPr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2320"/>
              </a:lnSpc>
              <a:buNone/>
            </a:pPr>
            <a:r>
              <a:rPr lang="en-US" sz="1600" b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posts</a:t>
            </a:r>
            <a:pPr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600" dirty="0"/>
          </a:p>
          <a:p>
            <a:pPr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ts val="2320"/>
              </a:lnSpc>
              <a:buNone/>
            </a:pPr>
            <a:r>
              <a:rPr lang="en-US" sz="1600" b="1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title</a:t>
            </a:r>
            <a:endParaRPr lang="en-US" sz="1600" dirty="0"/>
          </a:p>
          <a:p>
            <a:pPr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600" dirty="0"/>
          </a:p>
          <a:p>
            <a:pPr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600" dirty="0"/>
          </a:p>
          <a:p>
            <a:pPr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600" dirty="0"/>
          </a:p>
        </p:txBody>
      </p:sp>
      <p:sp>
        <p:nvSpPr>
          <p:cNvPr id="7" name="code-card"/>
          <p:cNvSpPr/>
          <p:nvPr/>
        </p:nvSpPr>
        <p:spPr>
          <a:xfrm>
            <a:off x="6675120" y="1508760"/>
            <a:ext cx="4937760" cy="4194048"/>
          </a:xfrm>
          <a:prstGeom prst="roundRect">
            <a:avLst>
              <a:gd name="adj" fmla="val 2616"/>
            </a:avLst>
          </a:prstGeom>
          <a:solidFill>
            <a:schemeClr val="bg2">
              <a:alpha val="88000"/>
            </a:schemeClr>
          </a:solidFill>
          <a:ln w="22225">
            <a:solidFill>
              <a:schemeClr val="accent4">
                <a:alpha val="90000"/>
              </a:scheme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39712" y="1581912"/>
            <a:ext cx="46085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tx2"/>
                </a:solidFill>
              </a:rPr>
              <a:t>RESPOSTA (JSON)</a:t>
            </a:r>
            <a:endParaRPr lang="en-US" sz="1100" dirty="0"/>
          </a:p>
        </p:txBody>
      </p:sp>
      <p:sp>
        <p:nvSpPr>
          <p:cNvPr id="9" name="code"/>
          <p:cNvSpPr txBox="1"/>
          <p:nvPr/>
        </p:nvSpPr>
        <p:spPr>
          <a:xfrm>
            <a:off x="6839712" y="2002536"/>
            <a:ext cx="4608576" cy="353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600" dirty="0"/>
          </a:p>
          <a:p>
            <a:pPr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"data"</a:t>
            </a:r>
            <a:pPr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600" dirty="0"/>
          </a:p>
          <a:p>
            <a:pPr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"users_by_pk"</a:t>
            </a:r>
            <a:pPr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600" dirty="0"/>
          </a:p>
          <a:p>
            <a:pPr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ts val="2320"/>
              </a:lnSpc>
              <a:buNone/>
            </a:pPr>
            <a:r>
              <a:rPr lang="en-US" sz="16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"name"</a:t>
            </a:r>
            <a:pPr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"Noah Xavier"</a:t>
            </a:r>
            <a:pPr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600" dirty="0"/>
          </a:p>
          <a:p>
            <a:pPr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ts val="2320"/>
              </a:lnSpc>
              <a:buNone/>
            </a:pPr>
            <a:r>
              <a:rPr lang="en-US" sz="1600" b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"posts"</a:t>
            </a:r>
            <a:pPr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endParaRPr lang="en-US" sz="1600" dirty="0"/>
          </a:p>
          <a:p>
            <a:pPr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2320"/>
              </a:lnSpc>
              <a:buNone/>
            </a:pPr>
            <a:r>
              <a:rPr lang="en-US" sz="1600" b="1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"title"</a:t>
            </a:r>
            <a:pPr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"Eos dolor…"</a:t>
            </a:r>
            <a:pPr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600" dirty="0"/>
          </a:p>
          <a:p>
            <a:pPr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2320"/>
              </a:lnSpc>
              <a:buNone/>
            </a:pPr>
            <a:r>
              <a:rPr lang="en-US" sz="1600" b="1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"title"</a:t>
            </a:r>
            <a:pPr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"Animi illum…"</a:t>
            </a:r>
            <a:pPr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600" dirty="0"/>
          </a:p>
          <a:p>
            <a:pPr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</a:t>
            </a:r>
            <a:endParaRPr lang="en-US" sz="1600" dirty="0"/>
          </a:p>
          <a:p>
            <a:pPr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600" dirty="0"/>
          </a:p>
          <a:p>
            <a:pPr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600" dirty="0"/>
          </a:p>
          <a:p>
            <a:pPr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600" dirty="0"/>
          </a:p>
          <a:p>
            <a:pPr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600" dirty="0"/>
          </a:p>
        </p:txBody>
      </p:sp>
      <p:pic>
        <p:nvPicPr>
          <p:cNvPr id="10" name="Image 0" descr="Linhas ligando campos da query aos campos da respost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11" name="pill"/>
          <p:cNvSpPr/>
          <p:nvPr/>
        </p:nvSpPr>
        <p:spPr>
          <a:xfrm>
            <a:off x="548640" y="5852160"/>
            <a:ext cx="2103120" cy="457200"/>
          </a:xfrm>
          <a:prstGeom prst="roundRect">
            <a:avLst>
              <a:gd name="adj" fmla="val 34000"/>
            </a:avLst>
          </a:prstGeom>
          <a:solidFill>
            <a:schemeClr val="accent3">
              <a:alpha val="20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48640" y="58521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1 endpoint</a:t>
            </a:r>
            <a:endParaRPr lang="en-US" sz="1500" dirty="0"/>
          </a:p>
        </p:txBody>
      </p:sp>
      <p:sp>
        <p:nvSpPr>
          <p:cNvPr id="13" name="pill"/>
          <p:cNvSpPr/>
          <p:nvPr/>
        </p:nvSpPr>
        <p:spPr>
          <a:xfrm>
            <a:off x="2834640" y="5852160"/>
            <a:ext cx="2103120" cy="457200"/>
          </a:xfrm>
          <a:prstGeom prst="roundRect">
            <a:avLst>
              <a:gd name="adj" fmla="val 34000"/>
            </a:avLst>
          </a:prstGeom>
          <a:solidFill>
            <a:schemeClr val="accent2">
              <a:alpha val="20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2834640" y="58521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1 viagem</a:t>
            </a:r>
            <a:endParaRPr lang="en-US" sz="1500" dirty="0"/>
          </a:p>
        </p:txBody>
      </p:sp>
      <p:sp>
        <p:nvSpPr>
          <p:cNvPr id="15" name="pill"/>
          <p:cNvSpPr/>
          <p:nvPr/>
        </p:nvSpPr>
        <p:spPr>
          <a:xfrm>
            <a:off x="5120640" y="5852160"/>
            <a:ext cx="4389120" cy="457200"/>
          </a:xfrm>
          <a:prstGeom prst="roundRect">
            <a:avLst>
              <a:gd name="adj" fmla="val 34000"/>
            </a:avLst>
          </a:prstGeom>
          <a:solidFill>
            <a:schemeClr val="accent4">
              <a:alpha val="20000"/>
            </a:schemeClr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120640" y="58521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a resposta tem o formato da pergunta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858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 txBox="1"/>
          <p:nvPr>
            <p:ph idx="101" type="title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Peça 2: Schema, o contrato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3"/>
                </a:solidFill>
              </a:rPr>
              <a:t>O CARDÁPIO TIPADO (SDL)</a:t>
            </a:r>
            <a:endParaRPr lang="en-US" sz="1200" dirty="0"/>
          </a:p>
        </p:txBody>
      </p:sp>
      <p:sp>
        <p:nvSpPr>
          <p:cNvPr id="4" name="code-card"/>
          <p:cNvSpPr/>
          <p:nvPr/>
        </p:nvSpPr>
        <p:spPr>
          <a:xfrm>
            <a:off x="548640" y="1554480"/>
            <a:ext cx="5394960" cy="2720848"/>
          </a:xfrm>
          <a:prstGeom prst="roundRect">
            <a:avLst>
              <a:gd name="adj" fmla="val 4033"/>
            </a:avLst>
          </a:prstGeom>
          <a:solidFill>
            <a:schemeClr val="bg2">
              <a:alpha val="88000"/>
            </a:schemeClr>
          </a:solidFill>
          <a:ln w="22225">
            <a:solidFill>
              <a:schemeClr val="accent3">
                <a:alpha val="90000"/>
              </a:scheme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13232" y="1627632"/>
            <a:ext cx="5065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tx2"/>
                </a:solidFill>
              </a:rPr>
              <a:t>SCHEMA DO LAB (TRECHO)</a:t>
            </a:r>
            <a:endParaRPr lang="en-US" sz="1100" dirty="0"/>
          </a:p>
        </p:txBody>
      </p:sp>
      <p:sp>
        <p:nvSpPr>
          <p:cNvPr id="6" name="code"/>
          <p:cNvSpPr txBox="1"/>
          <p:nvPr/>
        </p:nvSpPr>
        <p:spPr>
          <a:xfrm>
            <a:off x="713232" y="2048256"/>
            <a:ext cx="5065776" cy="206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pPr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users</a:t>
            </a:r>
            <a:pPr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600" dirty="0"/>
          </a:p>
          <a:p>
            <a:pPr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pPr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ts val="2320"/>
              </a:lnSpc>
              <a:buNone/>
            </a:pPr>
            <a:r>
              <a:rPr lang="en-US" sz="1600" b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</a:t>
            </a:r>
            <a:endParaRPr lang="en-US" sz="1600" dirty="0"/>
          </a:p>
          <a:p>
            <a:pPr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pPr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lnSpc>
                <a:spcPts val="2320"/>
              </a:lnSpc>
              <a:buNone/>
            </a:pPr>
            <a:r>
              <a:rPr lang="en-US" sz="1600" b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</a:t>
            </a:r>
            <a:endParaRPr lang="en-US" sz="1600" dirty="0"/>
          </a:p>
          <a:p>
            <a:pPr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</a:t>
            </a:r>
            <a:pPr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lnSpc>
                <a:spcPts val="2320"/>
              </a:lnSpc>
              <a:buNone/>
            </a:pPr>
            <a:r>
              <a:rPr lang="en-US" sz="1600" b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</a:t>
            </a:r>
            <a:endParaRPr lang="en-US" sz="1600" dirty="0"/>
          </a:p>
          <a:p>
            <a:pPr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2320"/>
              </a:lnSpc>
              <a:buNone/>
            </a:pPr>
            <a:r>
              <a:rPr lang="en-US" sz="16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bio</a:t>
            </a:r>
            <a:pPr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endParaRPr lang="en-US" sz="1600" dirty="0"/>
          </a:p>
          <a:p>
            <a:pPr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posts</a:t>
            </a:r>
            <a:pPr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2320"/>
              </a:lnSpc>
              <a:buNone/>
            </a:pPr>
            <a:r>
              <a:rPr lang="en-US" sz="16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[posts!]!</a:t>
            </a:r>
            <a:endParaRPr lang="en-US" sz="1600" dirty="0"/>
          </a:p>
          <a:p>
            <a:pPr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600" dirty="0"/>
          </a:p>
        </p:txBody>
      </p:sp>
      <p:sp>
        <p:nvSpPr>
          <p:cNvPr id="7" name="card"/>
          <p:cNvSpPr/>
          <p:nvPr/>
        </p:nvSpPr>
        <p:spPr>
          <a:xfrm>
            <a:off x="6583680" y="1554480"/>
            <a:ext cx="5029200" cy="914400"/>
          </a:xfrm>
          <a:prstGeom prst="roundRect">
            <a:avLst>
              <a:gd name="adj" fmla="val 12000"/>
            </a:avLst>
          </a:prstGeom>
          <a:solidFill>
            <a:schemeClr val="bg2">
              <a:alpha val="88000"/>
            </a:schemeClr>
          </a:solidFill>
          <a:ln w="22225">
            <a:solidFill>
              <a:schemeClr val="accent6">
                <a:alpha val="90000"/>
              </a:scheme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66560" y="1554480"/>
            <a:ext cx="73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7589520" y="16459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Ponto de exclamação = obrigatório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7589520" y="20116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Nunca vem null. Você pode usar sem checar.</a:t>
            </a:r>
            <a:endParaRPr lang="en-US" sz="1300" dirty="0"/>
          </a:p>
        </p:txBody>
      </p:sp>
      <p:sp>
        <p:nvSpPr>
          <p:cNvPr id="11" name="arrow"/>
          <p:cNvSpPr/>
          <p:nvPr/>
        </p:nvSpPr>
        <p:spPr>
          <a:xfrm flipV="1">
            <a:off x="5806440" y="2011680"/>
            <a:ext cx="731520" cy="478536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dash"/>
            <a:tailEnd type="triangle"/>
          </a:ln>
        </p:spPr>
      </p:sp>
      <p:sp>
        <p:nvSpPr>
          <p:cNvPr id="12" name="card"/>
          <p:cNvSpPr/>
          <p:nvPr/>
        </p:nvSpPr>
        <p:spPr>
          <a:xfrm>
            <a:off x="6583680" y="2606040"/>
            <a:ext cx="5029200" cy="914400"/>
          </a:xfrm>
          <a:prstGeom prst="roundRect">
            <a:avLst>
              <a:gd name="adj" fmla="val 12000"/>
            </a:avLst>
          </a:prstGeom>
          <a:solidFill>
            <a:schemeClr val="bg2">
              <a:alpha val="88000"/>
            </a:schemeClr>
          </a:solidFill>
          <a:ln w="22225">
            <a:solidFill>
              <a:schemeClr val="accent3">
                <a:alpha val="90000"/>
              </a:scheme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66560" y="2606040"/>
            <a:ext cx="73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bio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7589520" y="26974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Sem ! = pode vir null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589520" y="30632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Na tela, trate o caso de não ter bio.</a:t>
            </a:r>
            <a:endParaRPr lang="en-US" sz="1300" dirty="0"/>
          </a:p>
        </p:txBody>
      </p:sp>
      <p:sp>
        <p:nvSpPr>
          <p:cNvPr id="16" name="arrow"/>
          <p:cNvSpPr/>
          <p:nvPr/>
        </p:nvSpPr>
        <p:spPr>
          <a:xfrm flipV="1">
            <a:off x="5806440" y="3063240"/>
            <a:ext cx="731520" cy="310896"/>
          </a:xfrm>
          <a:prstGeom prst="line">
            <a:avLst/>
          </a:prstGeom>
          <a:noFill/>
          <a:ln w="22225">
            <a:solidFill>
              <a:schemeClr val="accent3"/>
            </a:solidFill>
            <a:prstDash val="dash"/>
            <a:tailEnd type="triangle"/>
          </a:ln>
        </p:spPr>
      </p:sp>
      <p:sp>
        <p:nvSpPr>
          <p:cNvPr id="17" name="card"/>
          <p:cNvSpPr/>
          <p:nvPr/>
        </p:nvSpPr>
        <p:spPr>
          <a:xfrm>
            <a:off x="6583680" y="3657600"/>
            <a:ext cx="5029200" cy="914400"/>
          </a:xfrm>
          <a:prstGeom prst="roundRect">
            <a:avLst>
              <a:gd name="adj" fmla="val 12000"/>
            </a:avLst>
          </a:prstGeom>
          <a:solidFill>
            <a:schemeClr val="bg2">
              <a:alpha val="88000"/>
            </a:schemeClr>
          </a:solidFill>
          <a:ln w="22225">
            <a:solidFill>
              <a:schemeClr val="accent2">
                <a:alpha val="90000"/>
              </a:scheme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766560" y="3657600"/>
            <a:ext cx="73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]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7589520" y="37490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Colchetes = lista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7589520" y="411480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posts: [posts!]! é uma lista de posts, nunca nula.</a:t>
            </a:r>
            <a:endParaRPr lang="en-US" sz="1300" dirty="0"/>
          </a:p>
        </p:txBody>
      </p:sp>
      <p:sp>
        <p:nvSpPr>
          <p:cNvPr id="21" name="arrow"/>
          <p:cNvSpPr/>
          <p:nvPr/>
        </p:nvSpPr>
        <p:spPr>
          <a:xfrm>
            <a:off x="5806440" y="3668776"/>
            <a:ext cx="731520" cy="446024"/>
          </a:xfrm>
          <a:prstGeom prst="line">
            <a:avLst/>
          </a:prstGeom>
          <a:noFill/>
          <a:ln w="22225">
            <a:solidFill>
              <a:schemeClr val="accent2"/>
            </a:solidFill>
            <a:prstDash val="dash"/>
            <a:tailEnd type="triangle"/>
          </a:ln>
        </p:spPr>
      </p:sp>
      <p:sp>
        <p:nvSpPr>
          <p:cNvPr id="22" name="card"/>
          <p:cNvSpPr/>
          <p:nvPr/>
        </p:nvSpPr>
        <p:spPr>
          <a:xfrm>
            <a:off x="548640" y="4754880"/>
            <a:ext cx="11064240" cy="1371600"/>
          </a:xfrm>
          <a:prstGeom prst="roundRect">
            <a:avLst>
              <a:gd name="adj" fmla="val 8000"/>
            </a:avLst>
          </a:prstGeom>
          <a:solidFill>
            <a:schemeClr val="bg2">
              <a:alpha val="88000"/>
            </a:schemeClr>
          </a:solidFill>
          <a:ln w="22225">
            <a:solidFill>
              <a:schemeClr val="accent3">
                <a:alpha val="90000"/>
              </a:scheme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22960" y="475488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3"/>
                </a:solidFill>
              </a:rPr>
              <a:t>Quem escreveu esse schema? Ninguém.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O Hasura leu as tabelas do Postgres e gerou. Para explorar: Console → aba API → Explorer (esquerda) e Docs (direita). É a documentação viva da API.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858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 txBox="1"/>
          <p:nvPr>
            <p:ph idx="101" type="title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Peça 3: Query, ler dados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ANATOMIA DE UMA QUERY</a:t>
            </a:r>
            <a:endParaRPr lang="en-US" sz="1200" dirty="0"/>
          </a:p>
        </p:txBody>
      </p:sp>
      <p:sp>
        <p:nvSpPr>
          <p:cNvPr id="4" name="code-card"/>
          <p:cNvSpPr/>
          <p:nvPr/>
        </p:nvSpPr>
        <p:spPr>
          <a:xfrm>
            <a:off x="548640" y="1554480"/>
            <a:ext cx="5943600" cy="3167888"/>
          </a:xfrm>
          <a:prstGeom prst="roundRect">
            <a:avLst>
              <a:gd name="adj" fmla="val 3464"/>
            </a:avLst>
          </a:prstGeom>
          <a:solidFill>
            <a:schemeClr val="bg2">
              <a:alpha val="88000"/>
            </a:schemeClr>
          </a:solidFill>
          <a:ln w="22225">
            <a:solidFill>
              <a:schemeClr val="accent2">
                <a:alpha val="90000"/>
              </a:scheme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13232" y="1627632"/>
            <a:ext cx="5614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tx2"/>
                </a:solidFill>
              </a:rPr>
              <a:t>EXEMPLO PARA DISSECAR</a:t>
            </a:r>
            <a:endParaRPr lang="en-US" sz="1100" dirty="0"/>
          </a:p>
        </p:txBody>
      </p:sp>
      <p:sp>
        <p:nvSpPr>
          <p:cNvPr id="6" name="code"/>
          <p:cNvSpPr txBox="1"/>
          <p:nvPr/>
        </p:nvSpPr>
        <p:spPr>
          <a:xfrm>
            <a:off x="713232" y="2048256"/>
            <a:ext cx="5614416" cy="2509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470"/>
              </a:lnSpc>
              <a:buNone/>
            </a:pPr>
            <a:r>
              <a:rPr lang="en-US" sz="17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</a:t>
            </a:r>
            <a:pPr indent="0" marL="0">
              <a:lnSpc>
                <a:spcPts val="2470"/>
              </a:lnSpc>
              <a:buNone/>
            </a:pPr>
            <a:r>
              <a:rPr lang="en-US" sz="17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2470"/>
              </a:lnSpc>
              <a:buNone/>
            </a:pPr>
            <a:r>
              <a:rPr lang="en-US" sz="1700" b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PostsDoUsuario</a:t>
            </a:r>
            <a:pPr indent="0" marL="0">
              <a:lnSpc>
                <a:spcPts val="2470"/>
              </a:lnSpc>
              <a:buNone/>
            </a:pPr>
            <a:r>
              <a:rPr lang="en-US" sz="17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2470"/>
              </a:lnSpc>
              <a:buNone/>
            </a:pPr>
            <a:r>
              <a:rPr lang="en-US" sz="17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$id: Int!</a:t>
            </a:r>
            <a:pPr indent="0" marL="0">
              <a:lnSpc>
                <a:spcPts val="2470"/>
              </a:lnSpc>
              <a:buNone/>
            </a:pPr>
            <a:r>
              <a:rPr lang="en-US" sz="17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ts val="2470"/>
              </a:lnSpc>
              <a:buNone/>
            </a:pPr>
            <a:r>
              <a:rPr lang="en-US" sz="17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2470"/>
              </a:lnSpc>
              <a:buNone/>
            </a:pPr>
            <a:r>
              <a:rPr lang="en-US" sz="17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700" dirty="0"/>
          </a:p>
          <a:p>
            <a:pPr indent="0" marL="0">
              <a:lnSpc>
                <a:spcPts val="2470"/>
              </a:lnSpc>
              <a:buNone/>
            </a:pPr>
            <a:r>
              <a:rPr lang="en-US" sz="17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2470"/>
              </a:lnSpc>
              <a:buNone/>
            </a:pPr>
            <a:r>
              <a:rPr lang="en-US" sz="1700" b="1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users_by_pk(id: $id)</a:t>
            </a:r>
            <a:pPr indent="0" marL="0">
              <a:lnSpc>
                <a:spcPts val="2470"/>
              </a:lnSpc>
              <a:buNone/>
            </a:pPr>
            <a:r>
              <a:rPr lang="en-US" sz="17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2470"/>
              </a:lnSpc>
              <a:buNone/>
            </a:pPr>
            <a:r>
              <a:rPr lang="en-US" sz="17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700" dirty="0"/>
          </a:p>
          <a:p>
            <a:pPr indent="0" marL="0">
              <a:lnSpc>
                <a:spcPts val="2470"/>
              </a:lnSpc>
              <a:buNone/>
            </a:pPr>
            <a:r>
              <a:rPr lang="en-US" sz="17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2470"/>
              </a:lnSpc>
              <a:buNone/>
            </a:pPr>
            <a:r>
              <a:rPr lang="en-US" sz="17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endParaRPr lang="en-US" sz="1700" dirty="0"/>
          </a:p>
          <a:p>
            <a:pPr indent="0" marL="0">
              <a:lnSpc>
                <a:spcPts val="2470"/>
              </a:lnSpc>
              <a:buNone/>
            </a:pPr>
            <a:r>
              <a:rPr lang="en-US" sz="17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2470"/>
              </a:lnSpc>
              <a:buNone/>
            </a:pPr>
            <a:r>
              <a:rPr lang="en-US" sz="17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posts(limit: 3)</a:t>
            </a:r>
            <a:pPr indent="0" marL="0">
              <a:lnSpc>
                <a:spcPts val="2470"/>
              </a:lnSpc>
              <a:buNone/>
            </a:pPr>
            <a:r>
              <a:rPr lang="en-US" sz="17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2470"/>
              </a:lnSpc>
              <a:buNone/>
            </a:pPr>
            <a:r>
              <a:rPr lang="en-US" sz="17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700" dirty="0"/>
          </a:p>
          <a:p>
            <a:pPr indent="0" marL="0">
              <a:lnSpc>
                <a:spcPts val="2470"/>
              </a:lnSpc>
              <a:buNone/>
            </a:pPr>
            <a:r>
              <a:rPr lang="en-US" sz="17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ts val="2470"/>
              </a:lnSpc>
              <a:buNone/>
            </a:pPr>
            <a:r>
              <a:rPr lang="en-US" sz="17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title</a:t>
            </a:r>
            <a:endParaRPr lang="en-US" sz="1700" dirty="0"/>
          </a:p>
          <a:p>
            <a:pPr indent="0" marL="0">
              <a:lnSpc>
                <a:spcPts val="2470"/>
              </a:lnSpc>
              <a:buNone/>
            </a:pPr>
            <a:r>
              <a:rPr lang="en-US" sz="17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2470"/>
              </a:lnSpc>
              <a:buNone/>
            </a:pPr>
            <a:r>
              <a:rPr lang="en-US" sz="17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700" dirty="0"/>
          </a:p>
          <a:p>
            <a:pPr indent="0" marL="0">
              <a:lnSpc>
                <a:spcPts val="2470"/>
              </a:lnSpc>
              <a:buNone/>
            </a:pPr>
            <a:r>
              <a:rPr lang="en-US" sz="17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2470"/>
              </a:lnSpc>
              <a:buNone/>
            </a:pPr>
            <a:r>
              <a:rPr lang="en-US" sz="17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700" dirty="0"/>
          </a:p>
          <a:p>
            <a:pPr indent="0" marL="0">
              <a:lnSpc>
                <a:spcPts val="2470"/>
              </a:lnSpc>
              <a:buNone/>
            </a:pPr>
            <a:r>
              <a:rPr lang="en-US" sz="17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700" dirty="0"/>
          </a:p>
        </p:txBody>
      </p:sp>
      <p:sp>
        <p:nvSpPr>
          <p:cNvPr id="7" name="card"/>
          <p:cNvSpPr/>
          <p:nvPr/>
        </p:nvSpPr>
        <p:spPr>
          <a:xfrm>
            <a:off x="6766560" y="1554480"/>
            <a:ext cx="4846320" cy="621792"/>
          </a:xfrm>
          <a:prstGeom prst="roundRect">
            <a:avLst>
              <a:gd name="adj" fmla="val 17647"/>
            </a:avLst>
          </a:prstGeom>
          <a:solidFill>
            <a:schemeClr val="bg2">
              <a:alpha val="88000"/>
            </a:schemeClr>
          </a:solidFill>
          <a:ln w="9525">
            <a:solidFill>
              <a:schemeClr val="tx2">
                <a:alpha val="35000"/>
              </a:scheme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903720" y="159105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903720" y="18836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Tipo da operação: leitura.</a:t>
            </a:r>
            <a:endParaRPr lang="en-US" sz="1300" dirty="0"/>
          </a:p>
        </p:txBody>
      </p:sp>
      <p:sp>
        <p:nvSpPr>
          <p:cNvPr id="10" name="card"/>
          <p:cNvSpPr/>
          <p:nvPr/>
        </p:nvSpPr>
        <p:spPr>
          <a:xfrm>
            <a:off x="6766560" y="2267712"/>
            <a:ext cx="4846320" cy="621792"/>
          </a:xfrm>
          <a:prstGeom prst="roundRect">
            <a:avLst>
              <a:gd name="adj" fmla="val 17647"/>
            </a:avLst>
          </a:prstGeom>
          <a:solidFill>
            <a:schemeClr val="bg2">
              <a:alpha val="88000"/>
            </a:schemeClr>
          </a:solidFill>
          <a:ln w="9525">
            <a:solidFill>
              <a:schemeClr val="tx2">
                <a:alpha val="35000"/>
              </a:scheme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903720" y="23042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PostsDoUsuario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903720" y="259689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Nome livre. Ajuda a achar o erro depois.</a:t>
            </a:r>
            <a:endParaRPr lang="en-US" sz="1300" dirty="0"/>
          </a:p>
        </p:txBody>
      </p:sp>
      <p:sp>
        <p:nvSpPr>
          <p:cNvPr id="13" name="card"/>
          <p:cNvSpPr/>
          <p:nvPr/>
        </p:nvSpPr>
        <p:spPr>
          <a:xfrm>
            <a:off x="6766560" y="2980944"/>
            <a:ext cx="4846320" cy="621792"/>
          </a:xfrm>
          <a:prstGeom prst="roundRect">
            <a:avLst>
              <a:gd name="adj" fmla="val 17647"/>
            </a:avLst>
          </a:prstGeom>
          <a:solidFill>
            <a:schemeClr val="bg2">
              <a:alpha val="88000"/>
            </a:schemeClr>
          </a:solidFill>
          <a:ln w="9525">
            <a:solidFill>
              <a:schemeClr val="tx2">
                <a:alpha val="35000"/>
              </a:scheme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903720" y="3017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($id: Int!)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903720" y="33101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Variável declarada, com tipo.</a:t>
            </a:r>
            <a:endParaRPr lang="en-US" sz="1300" dirty="0"/>
          </a:p>
        </p:txBody>
      </p:sp>
      <p:sp>
        <p:nvSpPr>
          <p:cNvPr id="16" name="card"/>
          <p:cNvSpPr/>
          <p:nvPr/>
        </p:nvSpPr>
        <p:spPr>
          <a:xfrm>
            <a:off x="6766560" y="3694176"/>
            <a:ext cx="4846320" cy="621792"/>
          </a:xfrm>
          <a:prstGeom prst="roundRect">
            <a:avLst>
              <a:gd name="adj" fmla="val 17647"/>
            </a:avLst>
          </a:prstGeom>
          <a:solidFill>
            <a:schemeClr val="bg2">
              <a:alpha val="88000"/>
            </a:schemeClr>
          </a:solidFill>
          <a:ln w="9525">
            <a:solidFill>
              <a:schemeClr val="tx2">
                <a:alpha val="35000"/>
              </a:scheme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903720" y="37307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users_by_pk(id: $id)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903720" y="4023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Campo raiz + argumento (busca pela chave).</a:t>
            </a:r>
            <a:endParaRPr lang="en-US" sz="1300" dirty="0"/>
          </a:p>
        </p:txBody>
      </p:sp>
      <p:sp>
        <p:nvSpPr>
          <p:cNvPr id="19" name="card"/>
          <p:cNvSpPr/>
          <p:nvPr/>
        </p:nvSpPr>
        <p:spPr>
          <a:xfrm>
            <a:off x="6766560" y="4407408"/>
            <a:ext cx="4846320" cy="621792"/>
          </a:xfrm>
          <a:prstGeom prst="roundRect">
            <a:avLst>
              <a:gd name="adj" fmla="val 17647"/>
            </a:avLst>
          </a:prstGeom>
          <a:solidFill>
            <a:schemeClr val="bg2">
              <a:alpha val="88000"/>
            </a:schemeClr>
          </a:solidFill>
          <a:ln w="9525">
            <a:solidFill>
              <a:schemeClr val="tx2">
                <a:alpha val="35000"/>
              </a:scheme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903720" y="44439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 title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903720" y="47365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Campos escolhidos: só o que você quer.</a:t>
            </a:r>
            <a:endParaRPr lang="en-US" sz="1300" dirty="0"/>
          </a:p>
        </p:txBody>
      </p:sp>
      <p:sp>
        <p:nvSpPr>
          <p:cNvPr id="22" name="card"/>
          <p:cNvSpPr/>
          <p:nvPr/>
        </p:nvSpPr>
        <p:spPr>
          <a:xfrm>
            <a:off x="6766560" y="5120640"/>
            <a:ext cx="4846320" cy="621792"/>
          </a:xfrm>
          <a:prstGeom prst="roundRect">
            <a:avLst>
              <a:gd name="adj" fmla="val 17647"/>
            </a:avLst>
          </a:prstGeom>
          <a:solidFill>
            <a:schemeClr val="bg2">
              <a:alpha val="88000"/>
            </a:schemeClr>
          </a:solidFill>
          <a:ln w="9525">
            <a:solidFill>
              <a:schemeClr val="tx2">
                <a:alpha val="35000"/>
              </a:scheme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903720" y="51572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posts(limit: 3)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903720" y="544982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Campo aninhado (relacionamento) com argumento.</a:t>
            </a:r>
            <a:endParaRPr lang="en-US" sz="1300" dirty="0"/>
          </a:p>
        </p:txBody>
      </p:sp>
      <p:sp>
        <p:nvSpPr>
          <p:cNvPr id="25" name="card"/>
          <p:cNvSpPr/>
          <p:nvPr/>
        </p:nvSpPr>
        <p:spPr>
          <a:xfrm>
            <a:off x="548640" y="5029200"/>
            <a:ext cx="5943600" cy="1097280"/>
          </a:xfrm>
          <a:prstGeom prst="roundRect">
            <a:avLst>
              <a:gd name="adj" fmla="val 10000"/>
            </a:avLst>
          </a:prstGeom>
          <a:solidFill>
            <a:schemeClr val="bg2">
              <a:alpha val="88000"/>
            </a:schemeClr>
          </a:solidFill>
          <a:ln w="22225">
            <a:solidFill>
              <a:schemeClr val="accent6">
                <a:alpha val="90000"/>
              </a:schemeClr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77240" y="502920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6"/>
                </a:solidFill>
              </a:rPr>
              <a:t>Teste agora: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cole no Console (aba API) e, em Query Variables, coloque </a:t>
            </a:r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"id": 2 }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858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 txBox="1"/>
          <p:nvPr>
            <p:ph idx="101" type="title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Variáveis: nunca cole texto na query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6"/>
                </a:solidFill>
              </a:rPr>
              <a:t>PEÇA 4 · VARIÁVEIS</a:t>
            </a:r>
            <a:endParaRPr lang="en-US" sz="1200" dirty="0"/>
          </a:p>
        </p:txBody>
      </p:sp>
      <p:sp>
        <p:nvSpPr>
          <p:cNvPr id="4" name="card"/>
          <p:cNvSpPr/>
          <p:nvPr/>
        </p:nvSpPr>
        <p:spPr>
          <a:xfrm>
            <a:off x="548640" y="1508760"/>
            <a:ext cx="5440680" cy="457200"/>
          </a:xfrm>
          <a:prstGeom prst="roundRect">
            <a:avLst>
              <a:gd name="adj" fmla="val 24000"/>
            </a:avLst>
          </a:prstGeom>
          <a:solidFill>
            <a:schemeClr val="bg2">
              <a:alpha val="15000"/>
            </a:schemeClr>
          </a:solidFill>
          <a:ln w="22225">
            <a:solidFill>
              <a:schemeClr val="accent5">
                <a:alpha val="90000"/>
              </a:scheme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087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✗  Jeito errado</a:t>
            </a:r>
            <a:endParaRPr lang="en-US" sz="1800" dirty="0"/>
          </a:p>
        </p:txBody>
      </p:sp>
      <p:sp>
        <p:nvSpPr>
          <p:cNvPr id="6" name="code-card"/>
          <p:cNvSpPr/>
          <p:nvPr/>
        </p:nvSpPr>
        <p:spPr>
          <a:xfrm>
            <a:off x="548640" y="2103120"/>
            <a:ext cx="5440680" cy="1102614"/>
          </a:xfrm>
          <a:prstGeom prst="roundRect">
            <a:avLst>
              <a:gd name="adj" fmla="val 9952"/>
            </a:avLst>
          </a:prstGeom>
          <a:solidFill>
            <a:schemeClr val="bg2">
              <a:alpha val="88000"/>
            </a:schemeClr>
          </a:solidFill>
          <a:ln w="22225">
            <a:solidFill>
              <a:schemeClr val="accent5">
                <a:alpha val="90000"/>
              </a:schemeClr>
            </a:solidFill>
            <a:prstDash val="solid"/>
          </a:ln>
        </p:spPr>
      </p:sp>
      <p:sp>
        <p:nvSpPr>
          <p:cNvPr id="7" name="code"/>
          <p:cNvSpPr txBox="1"/>
          <p:nvPr/>
        </p:nvSpPr>
        <p:spPr>
          <a:xfrm>
            <a:off x="713232" y="2267712"/>
            <a:ext cx="5111496" cy="773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400" dirty="0"/>
          </a:p>
          <a:p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users_by_pk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  <a:p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520440"/>
            <a:ext cx="5440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2"/>
                </a:solidFill>
              </a:rPr>
              <a:t>• Cada id vira uma query diferente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2"/>
                </a:solidFill>
              </a:rPr>
              <a:t>• Abre brecha para injeção de código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2"/>
                </a:solidFill>
              </a:rPr>
              <a:t>• Um erro de aspas quebra tudo</a:t>
            </a:r>
            <a:endParaRPr lang="en-US" sz="1500" dirty="0"/>
          </a:p>
        </p:txBody>
      </p:sp>
      <p:sp>
        <p:nvSpPr>
          <p:cNvPr id="9" name="card"/>
          <p:cNvSpPr/>
          <p:nvPr/>
        </p:nvSpPr>
        <p:spPr>
          <a:xfrm>
            <a:off x="6199632" y="1508760"/>
            <a:ext cx="5413248" cy="457200"/>
          </a:xfrm>
          <a:prstGeom prst="roundRect">
            <a:avLst>
              <a:gd name="adj" fmla="val 24000"/>
            </a:avLst>
          </a:prstGeom>
          <a:solidFill>
            <a:schemeClr val="bg2">
              <a:alpha val="15000"/>
            </a:schemeClr>
          </a:solidFill>
          <a:ln w="22225">
            <a:solidFill>
              <a:schemeClr val="accent4">
                <a:alpha val="90000"/>
              </a:scheme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28232" y="15087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✓  Jeito certo (UserView.vue)</a:t>
            </a:r>
            <a:endParaRPr lang="en-US" sz="1800" dirty="0"/>
          </a:p>
        </p:txBody>
      </p:sp>
      <p:sp>
        <p:nvSpPr>
          <p:cNvPr id="11" name="code-card"/>
          <p:cNvSpPr/>
          <p:nvPr/>
        </p:nvSpPr>
        <p:spPr>
          <a:xfrm>
            <a:off x="6199632" y="2103120"/>
            <a:ext cx="5413248" cy="1618234"/>
          </a:xfrm>
          <a:prstGeom prst="roundRect">
            <a:avLst>
              <a:gd name="adj" fmla="val 6781"/>
            </a:avLst>
          </a:prstGeom>
          <a:solidFill>
            <a:schemeClr val="bg2">
              <a:alpha val="88000"/>
            </a:schemeClr>
          </a:solidFill>
          <a:ln w="22225">
            <a:solidFill>
              <a:schemeClr val="accent4">
                <a:alpha val="90000"/>
              </a:schemeClr>
            </a:solidFill>
            <a:prstDash val="solid"/>
          </a:ln>
        </p:spPr>
      </p:sp>
      <p:sp>
        <p:nvSpPr>
          <p:cNvPr id="12" name="code"/>
          <p:cNvSpPr txBox="1"/>
          <p:nvPr/>
        </p:nvSpPr>
        <p:spPr>
          <a:xfrm>
            <a:off x="6364224" y="2267712"/>
            <a:ext cx="5084064" cy="1289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</a:t>
            </a:r>
            <a:endParaRPr lang="en-US" sz="1400" dirty="0"/>
          </a:p>
          <a:p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2030"/>
              </a:lnSpc>
              <a:buNone/>
            </a:pPr>
            <a:r>
              <a:rPr lang="en-US" sz="14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$id: Int!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400" dirty="0"/>
          </a:p>
          <a:p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users_by_pk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2030"/>
              </a:lnSpc>
              <a:buNone/>
            </a:pPr>
            <a:r>
              <a:rPr lang="en-US" sz="14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$id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  <a:p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</a:t>
            </a:r>
            <a:endParaRPr lang="en-US" sz="1400" dirty="0"/>
          </a:p>
          <a:p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gql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props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199632" y="3886200"/>
            <a:ext cx="54132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2"/>
                </a:solidFill>
              </a:rPr>
              <a:t>• A query é sempre a mesma (dá para cachear)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2"/>
                </a:solidFill>
              </a:rPr>
              <a:t>• O servidor valida o tipo (Int!)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2"/>
                </a:solidFill>
              </a:rPr>
              <a:t>• Valores viajam separados, em JSON</a:t>
            </a:r>
            <a:endParaRPr lang="en-US" sz="1500" dirty="0"/>
          </a:p>
        </p:txBody>
      </p:sp>
      <p:sp>
        <p:nvSpPr>
          <p:cNvPr id="14" name="card"/>
          <p:cNvSpPr/>
          <p:nvPr/>
        </p:nvSpPr>
        <p:spPr>
          <a:xfrm>
            <a:off x="548640" y="5029200"/>
            <a:ext cx="11064240" cy="1097280"/>
          </a:xfrm>
          <a:prstGeom prst="roundRect">
            <a:avLst>
              <a:gd name="adj" fmla="val 10000"/>
            </a:avLst>
          </a:prstGeom>
          <a:solidFill>
            <a:schemeClr val="bg2">
              <a:alpha val="88000"/>
            </a:schemeClr>
          </a:solidFill>
          <a:ln w="22225">
            <a:solidFill>
              <a:schemeClr val="accent6">
                <a:alpha val="90000"/>
              </a:scheme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51206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6"/>
                </a:solidFill>
              </a:rPr>
              <a:t>Esqueceu a variável? O servidor avisa: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553212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expecting a value for non-nullable variable: "id"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858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 txBox="1"/>
          <p:nvPr>
            <p:ph idx="101" type="title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Peça 5: Mutation, escrever dados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4"/>
                </a:solidFill>
              </a:rPr>
              <a:t>CRIAR, EDITAR E APAGAR</a:t>
            </a:r>
            <a:endParaRPr lang="en-US" sz="1200" dirty="0"/>
          </a:p>
        </p:txBody>
      </p:sp>
      <p:sp>
        <p:nvSpPr>
          <p:cNvPr id="4" name="code-card"/>
          <p:cNvSpPr/>
          <p:nvPr/>
        </p:nvSpPr>
        <p:spPr>
          <a:xfrm>
            <a:off x="548640" y="1508760"/>
            <a:ext cx="6126480" cy="1431798"/>
          </a:xfrm>
          <a:prstGeom prst="roundRect">
            <a:avLst>
              <a:gd name="adj" fmla="val 7664"/>
            </a:avLst>
          </a:prstGeom>
          <a:solidFill>
            <a:schemeClr val="bg2">
              <a:alpha val="88000"/>
            </a:schemeClr>
          </a:solidFill>
          <a:ln w="22225">
            <a:solidFill>
              <a:schemeClr val="accent4">
                <a:alpha val="90000"/>
              </a:scheme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13232" y="1581912"/>
            <a:ext cx="5797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tx2"/>
                </a:solidFill>
              </a:rPr>
              <a:t>MUTATION</a:t>
            </a:r>
            <a:endParaRPr lang="en-US" sz="1100" dirty="0"/>
          </a:p>
        </p:txBody>
      </p:sp>
      <p:sp>
        <p:nvSpPr>
          <p:cNvPr id="6" name="code"/>
          <p:cNvSpPr txBox="1"/>
          <p:nvPr/>
        </p:nvSpPr>
        <p:spPr>
          <a:xfrm>
            <a:off x="713232" y="2002536"/>
            <a:ext cx="5797296" cy="773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030"/>
              </a:lnSpc>
              <a:buNone/>
            </a:pPr>
            <a:r>
              <a:rPr lang="en-US" sz="14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mutation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$object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posts_insert_input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400" dirty="0"/>
          </a:p>
          <a:p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2030"/>
              </a:lnSpc>
              <a:buNone/>
            </a:pPr>
            <a:r>
              <a:rPr lang="en-US" sz="1400" b="1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insert_posts_one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object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$object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title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  <a:p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7" name="code-card"/>
          <p:cNvSpPr/>
          <p:nvPr/>
        </p:nvSpPr>
        <p:spPr>
          <a:xfrm>
            <a:off x="548640" y="3108960"/>
            <a:ext cx="6126480" cy="1689608"/>
          </a:xfrm>
          <a:prstGeom prst="roundRect">
            <a:avLst>
              <a:gd name="adj" fmla="val 6494"/>
            </a:avLst>
          </a:prstGeom>
          <a:solidFill>
            <a:schemeClr val="bg2">
              <a:alpha val="88000"/>
            </a:schemeClr>
          </a:solidFill>
          <a:ln w="22225">
            <a:solidFill>
              <a:schemeClr val="accent3">
                <a:alpha val="90000"/>
              </a:scheme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13232" y="3182112"/>
            <a:ext cx="5797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tx2"/>
                </a:solidFill>
              </a:rPr>
              <a:t>VARIABLES</a:t>
            </a:r>
            <a:endParaRPr lang="en-US" sz="1100" dirty="0"/>
          </a:p>
        </p:txBody>
      </p:sp>
      <p:sp>
        <p:nvSpPr>
          <p:cNvPr id="9" name="code"/>
          <p:cNvSpPr txBox="1"/>
          <p:nvPr/>
        </p:nvSpPr>
        <p:spPr>
          <a:xfrm>
            <a:off x="713232" y="3602736"/>
            <a:ext cx="5797296" cy="1031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"object"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400" dirty="0"/>
          </a:p>
          <a:p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"user_id"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400" dirty="0"/>
          </a:p>
          <a:p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"title"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"Meu primeiro post"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400" dirty="0"/>
          </a:p>
          <a:p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"body"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"Olá, GraphQL!"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10" name="code-card"/>
          <p:cNvSpPr/>
          <p:nvPr/>
        </p:nvSpPr>
        <p:spPr>
          <a:xfrm>
            <a:off x="548640" y="4937760"/>
            <a:ext cx="6126480" cy="1135888"/>
          </a:xfrm>
          <a:prstGeom prst="roundRect">
            <a:avLst>
              <a:gd name="adj" fmla="val 9660"/>
            </a:avLst>
          </a:prstGeom>
          <a:solidFill>
            <a:schemeClr val="bg2">
              <a:alpha val="88000"/>
            </a:schemeClr>
          </a:solidFill>
          <a:ln w="22225">
            <a:solidFill>
              <a:schemeClr val="accent4">
                <a:alpha val="90000"/>
              </a:scheme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13232" y="5010912"/>
            <a:ext cx="5797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tx2"/>
                </a:solidFill>
              </a:rPr>
              <a:t>RESPOSTA</a:t>
            </a:r>
            <a:endParaRPr lang="en-US" sz="1100" dirty="0"/>
          </a:p>
        </p:txBody>
      </p:sp>
      <p:sp>
        <p:nvSpPr>
          <p:cNvPr id="12" name="code"/>
          <p:cNvSpPr txBox="1"/>
          <p:nvPr/>
        </p:nvSpPr>
        <p:spPr>
          <a:xfrm>
            <a:off x="713232" y="5431536"/>
            <a:ext cx="5797296" cy="477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188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ts val="188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880"/>
              </a:lnSpc>
              <a:buNone/>
            </a:pPr>
            <a:r>
              <a:rPr lang="en-US" sz="13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"data"</a:t>
            </a:r>
            <a:pPr indent="0" marL="0">
              <a:lnSpc>
                <a:spcPts val="188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88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88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ts val="188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880"/>
              </a:lnSpc>
              <a:buNone/>
            </a:pPr>
            <a:r>
              <a:rPr lang="en-US" sz="13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"insert_posts_one"</a:t>
            </a:r>
            <a:pPr indent="0" marL="0">
              <a:lnSpc>
                <a:spcPts val="188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88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88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ts val="188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1880"/>
              </a:lnSpc>
              <a:buNone/>
            </a:pPr>
            <a:r>
              <a:rPr lang="en-US" sz="13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"id"</a:t>
            </a:r>
            <a:pPr indent="0" marL="0">
              <a:lnSpc>
                <a:spcPts val="188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88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880"/>
              </a:lnSpc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250</a:t>
            </a:r>
            <a:pPr indent="0" marL="0">
              <a:lnSpc>
                <a:spcPts val="188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ts val="188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880"/>
              </a:lnSpc>
              <a:buNone/>
            </a:pPr>
            <a:r>
              <a:rPr lang="en-US" sz="13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"title"</a:t>
            </a:r>
            <a:pPr indent="0" marL="0">
              <a:lnSpc>
                <a:spcPts val="188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88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880"/>
              </a:lnSpc>
              <a:buNone/>
            </a:pPr>
            <a:r>
              <a:rPr lang="en-US" sz="13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"Meu primeiro post"</a:t>
            </a:r>
            <a:pPr indent="0" marL="0">
              <a:lnSpc>
                <a:spcPts val="188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88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lnSpc>
                <a:spcPts val="188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88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lnSpc>
                <a:spcPts val="188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88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3" name="card"/>
          <p:cNvSpPr/>
          <p:nvPr/>
        </p:nvSpPr>
        <p:spPr>
          <a:xfrm>
            <a:off x="6949440" y="1508760"/>
            <a:ext cx="4663440" cy="1554480"/>
          </a:xfrm>
          <a:prstGeom prst="roundRect">
            <a:avLst>
              <a:gd name="adj" fmla="val 7059"/>
            </a:avLst>
          </a:prstGeom>
          <a:solidFill>
            <a:schemeClr val="bg2">
              <a:alpha val="88000"/>
            </a:schemeClr>
          </a:solidFill>
          <a:ln w="22225">
            <a:solidFill>
              <a:schemeClr val="accent2">
                <a:alpha val="90000"/>
              </a:scheme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178040" y="16002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Query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7178040" y="201168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Só lê. Pode repetir à vontade, nada muda no banco.</a:t>
            </a:r>
            <a:endParaRPr lang="en-US" sz="1500" dirty="0"/>
          </a:p>
        </p:txBody>
      </p:sp>
      <p:sp>
        <p:nvSpPr>
          <p:cNvPr id="16" name="card"/>
          <p:cNvSpPr/>
          <p:nvPr/>
        </p:nvSpPr>
        <p:spPr>
          <a:xfrm>
            <a:off x="6949440" y="3246120"/>
            <a:ext cx="4663440" cy="1554480"/>
          </a:xfrm>
          <a:prstGeom prst="roundRect">
            <a:avLst>
              <a:gd name="adj" fmla="val 7059"/>
            </a:avLst>
          </a:prstGeom>
          <a:solidFill>
            <a:schemeClr val="bg2">
              <a:alpha val="88000"/>
            </a:schemeClr>
          </a:solidFill>
          <a:ln w="22225">
            <a:solidFill>
              <a:schemeClr val="accent4">
                <a:alpha val="90000"/>
              </a:scheme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178040" y="33375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4"/>
                </a:solidFill>
              </a:rPr>
              <a:t>Mutation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7178040" y="374904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Muda dados. Cada execução tem efeito (criar, editar, apagar).</a:t>
            </a:r>
            <a:endParaRPr lang="en-US" sz="1500" dirty="0"/>
          </a:p>
        </p:txBody>
      </p:sp>
      <p:sp>
        <p:nvSpPr>
          <p:cNvPr id="19" name="card"/>
          <p:cNvSpPr/>
          <p:nvPr/>
        </p:nvSpPr>
        <p:spPr>
          <a:xfrm>
            <a:off x="6949440" y="4983480"/>
            <a:ext cx="4663440" cy="1188720"/>
          </a:xfrm>
          <a:prstGeom prst="roundRect">
            <a:avLst>
              <a:gd name="adj" fmla="val 9231"/>
            </a:avLst>
          </a:prstGeom>
          <a:solidFill>
            <a:schemeClr val="bg2">
              <a:alpha val="88000"/>
            </a:schemeClr>
          </a:solidFill>
          <a:ln w="9525">
            <a:solidFill>
              <a:schemeClr val="tx2">
                <a:alpha val="35000"/>
              </a:scheme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178040" y="50292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Nomes no Hasura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178040" y="5321808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insert_posts_one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update_posts_by_pk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delete_posts_by_pk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858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 txBox="1"/>
          <p:nvPr>
            <p:ph idx="101" type="title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O resolver: quem busca o dado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O COZINHEIRO DO SERVIDOR</a:t>
            </a:r>
            <a:endParaRPr lang="en-US" sz="1200" dirty="0"/>
          </a:p>
        </p:txBody>
      </p:sp>
      <p:sp>
        <p:nvSpPr>
          <p:cNvPr id="4" name="card"/>
          <p:cNvSpPr/>
          <p:nvPr/>
        </p:nvSpPr>
        <p:spPr>
          <a:xfrm>
            <a:off x="548640" y="1508760"/>
            <a:ext cx="3291840" cy="1188720"/>
          </a:xfrm>
          <a:prstGeom prst="roundRect">
            <a:avLst>
              <a:gd name="adj" fmla="val 9231"/>
            </a:avLst>
          </a:prstGeom>
          <a:solidFill>
            <a:schemeClr val="bg2">
              <a:alpha val="88000"/>
            </a:schemeClr>
          </a:solidFill>
          <a:ln w="22225">
            <a:solidFill>
              <a:schemeClr val="accent2">
                <a:alpha val="90000"/>
              </a:scheme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459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Campo pedido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1031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posts</a:t>
            </a:r>
            <a:endParaRPr lang="en-US" sz="1600" dirty="0"/>
          </a:p>
        </p:txBody>
      </p:sp>
      <p:sp>
        <p:nvSpPr>
          <p:cNvPr id="7" name="arrow"/>
          <p:cNvSpPr/>
          <p:nvPr/>
        </p:nvSpPr>
        <p:spPr>
          <a:xfrm>
            <a:off x="3886200" y="2103120"/>
            <a:ext cx="365760" cy="0"/>
          </a:xfrm>
          <a:prstGeom prst="line">
            <a:avLst/>
          </a:prstGeom>
          <a:noFill/>
          <a:ln w="317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8" name="card"/>
          <p:cNvSpPr/>
          <p:nvPr/>
        </p:nvSpPr>
        <p:spPr>
          <a:xfrm>
            <a:off x="4297680" y="1508760"/>
            <a:ext cx="3291840" cy="1188720"/>
          </a:xfrm>
          <a:prstGeom prst="roundRect">
            <a:avLst>
              <a:gd name="adj" fmla="val 9231"/>
            </a:avLst>
          </a:prstGeom>
          <a:solidFill>
            <a:schemeClr val="bg2">
              <a:alpha val="88000"/>
            </a:schemeClr>
          </a:solidFill>
          <a:ln w="22225">
            <a:solidFill>
              <a:schemeClr val="accent1">
                <a:alpha val="90000"/>
              </a:scheme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26280" y="16459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Resolver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4526280" y="21031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função que busca</a:t>
            </a:r>
            <a:endParaRPr lang="en-US" sz="1600" dirty="0"/>
          </a:p>
        </p:txBody>
      </p:sp>
      <p:sp>
        <p:nvSpPr>
          <p:cNvPr id="11" name="arrow"/>
          <p:cNvSpPr/>
          <p:nvPr/>
        </p:nvSpPr>
        <p:spPr>
          <a:xfrm>
            <a:off x="7635240" y="2103120"/>
            <a:ext cx="365760" cy="0"/>
          </a:xfrm>
          <a:prstGeom prst="line">
            <a:avLst/>
          </a:prstGeom>
          <a:noFill/>
          <a:ln w="317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2" name="card"/>
          <p:cNvSpPr/>
          <p:nvPr/>
        </p:nvSpPr>
        <p:spPr>
          <a:xfrm>
            <a:off x="8046720" y="1508760"/>
            <a:ext cx="3291840" cy="1188720"/>
          </a:xfrm>
          <a:prstGeom prst="roundRect">
            <a:avLst>
              <a:gd name="adj" fmla="val 9231"/>
            </a:avLst>
          </a:prstGeom>
          <a:solidFill>
            <a:schemeClr val="bg2">
              <a:alpha val="88000"/>
            </a:schemeClr>
          </a:solidFill>
          <a:ln w="22225">
            <a:solidFill>
              <a:schemeClr val="accent3">
                <a:alpha val="90000"/>
              </a:scheme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75320" y="16459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3"/>
                </a:solidFill>
              </a:rPr>
              <a:t>Fonte de dados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8275320" y="21031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SQL, outra API…</a:t>
            </a:r>
            <a:endParaRPr lang="en-US" sz="1600" dirty="0"/>
          </a:p>
        </p:txBody>
      </p:sp>
      <p:sp>
        <p:nvSpPr>
          <p:cNvPr id="15" name="code-card"/>
          <p:cNvSpPr/>
          <p:nvPr/>
        </p:nvSpPr>
        <p:spPr>
          <a:xfrm>
            <a:off x="548640" y="3017520"/>
            <a:ext cx="5852160" cy="2568448"/>
          </a:xfrm>
          <a:prstGeom prst="roundRect">
            <a:avLst>
              <a:gd name="adj" fmla="val 4272"/>
            </a:avLst>
          </a:prstGeom>
          <a:solidFill>
            <a:schemeClr val="bg2">
              <a:alpha val="88000"/>
            </a:schemeClr>
          </a:solidFill>
          <a:ln w="22225">
            <a:solidFill>
              <a:schemeClr val="accent1">
                <a:alpha val="90000"/>
              </a:scheme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13232" y="3090672"/>
            <a:ext cx="5522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tx2"/>
                </a:solidFill>
              </a:rPr>
              <a:t>EXEMPLO (SERVIDOR FEITO À MÃO)</a:t>
            </a:r>
            <a:endParaRPr lang="en-US" sz="1100" dirty="0"/>
          </a:p>
        </p:txBody>
      </p:sp>
      <p:sp>
        <p:nvSpPr>
          <p:cNvPr id="17" name="code"/>
          <p:cNvSpPr txBox="1"/>
          <p:nvPr/>
        </p:nvSpPr>
        <p:spPr>
          <a:xfrm>
            <a:off x="713232" y="3511296"/>
            <a:ext cx="5522976" cy="1910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1880"/>
              </a:lnSpc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lnSpc>
                <a:spcPts val="188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88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resolvers</a:t>
            </a:r>
            <a:pPr indent="0" marL="0">
              <a:lnSpc>
                <a:spcPts val="188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88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ts val="188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88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ts val="188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880"/>
              </a:lnSpc>
              <a:buNone/>
            </a:pP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</a:t>
            </a:r>
            <a:pPr indent="0" marL="0">
              <a:lnSpc>
                <a:spcPts val="188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88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88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ts val="188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188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users_by_pk</a:t>
            </a:r>
            <a:pPr indent="0" marL="0">
              <a:lnSpc>
                <a:spcPts val="188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88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88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188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</a:t>
            </a:r>
            <a:pPr indent="0" marL="0">
              <a:lnSpc>
                <a:spcPts val="188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ts val="188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88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ts val="188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88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pPr indent="0" marL="0">
              <a:lnSpc>
                <a:spcPts val="188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88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lnSpc>
                <a:spcPts val="188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ts val="188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88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ts val="188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lnSpc>
                <a:spcPts val="188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88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</a:t>
            </a:r>
            <a:pPr indent="0" marL="0">
              <a:lnSpc>
                <a:spcPts val="188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ts val="188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</a:t>
            </a:r>
            <a:pPr indent="0" marL="0">
              <a:lnSpc>
                <a:spcPts val="188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188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pPr indent="0" marL="0">
              <a:lnSpc>
                <a:spcPts val="188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ts val="188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300" dirty="0"/>
          </a:p>
          <a:p>
            <a:pPr indent="0" marL="0">
              <a:lnSpc>
                <a:spcPts val="188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88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lnSpc>
                <a:spcPts val="188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300" dirty="0"/>
          </a:p>
          <a:p>
            <a:pPr indent="0" marL="0">
              <a:lnSpc>
                <a:spcPts val="188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88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users</a:t>
            </a:r>
            <a:pPr indent="0" marL="0">
              <a:lnSpc>
                <a:spcPts val="188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88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88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ts val="188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188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posts</a:t>
            </a:r>
            <a:pPr indent="0" marL="0">
              <a:lnSpc>
                <a:spcPts val="188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88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88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188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</a:t>
            </a:r>
            <a:pPr indent="0" marL="0">
              <a:lnSpc>
                <a:spcPts val="188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ts val="188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88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ts val="188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pPr indent="0" marL="0">
              <a:lnSpc>
                <a:spcPts val="188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88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</a:t>
            </a:r>
            <a:pPr indent="0" marL="0">
              <a:lnSpc>
                <a:spcPts val="188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ts val="188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postsDe</a:t>
            </a:r>
            <a:pPr indent="0" marL="0">
              <a:lnSpc>
                <a:spcPts val="188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188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</a:t>
            </a:r>
            <a:pPr indent="0" marL="0">
              <a:lnSpc>
                <a:spcPts val="188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ts val="188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pPr indent="0" marL="0">
              <a:lnSpc>
                <a:spcPts val="188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ts val="188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300" dirty="0"/>
          </a:p>
          <a:p>
            <a:pPr indent="0" marL="0">
              <a:lnSpc>
                <a:spcPts val="188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88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lnSpc>
                <a:spcPts val="188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300" dirty="0"/>
          </a:p>
          <a:p>
            <a:pPr indent="0" marL="0">
              <a:lnSpc>
                <a:spcPts val="188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8" name="card"/>
          <p:cNvSpPr/>
          <p:nvPr/>
        </p:nvSpPr>
        <p:spPr>
          <a:xfrm>
            <a:off x="6675120" y="3017520"/>
            <a:ext cx="4937760" cy="1463040"/>
          </a:xfrm>
          <a:prstGeom prst="roundRect">
            <a:avLst>
              <a:gd name="adj" fmla="val 7500"/>
            </a:avLst>
          </a:prstGeom>
          <a:solidFill>
            <a:schemeClr val="bg2">
              <a:alpha val="88000"/>
            </a:schemeClr>
          </a:solidFill>
          <a:ln w="22225">
            <a:solidFill>
              <a:schemeClr val="accent2">
                <a:alpha val="90000"/>
              </a:scheme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58000" y="3108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No lab: o Hasura escreve por você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6858000" y="352044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Um resolver por tabela e relacionamento, gerados do schema. Por isso o lab não tem servidor Node.</a:t>
            </a:r>
            <a:endParaRPr lang="en-US" sz="1400" dirty="0"/>
          </a:p>
        </p:txBody>
      </p:sp>
      <p:sp>
        <p:nvSpPr>
          <p:cNvPr id="21" name="card"/>
          <p:cNvSpPr/>
          <p:nvPr/>
        </p:nvSpPr>
        <p:spPr>
          <a:xfrm>
            <a:off x="6675120" y="4663440"/>
            <a:ext cx="4937760" cy="1463040"/>
          </a:xfrm>
          <a:prstGeom prst="roundRect">
            <a:avLst>
              <a:gd name="adj" fmla="val 7500"/>
            </a:avLst>
          </a:prstGeom>
          <a:solidFill>
            <a:schemeClr val="bg2">
              <a:alpha val="88000"/>
            </a:schemeClr>
          </a:solidFill>
          <a:ln w="22225">
            <a:solidFill>
              <a:schemeClr val="accent5">
                <a:alpha val="90000"/>
              </a:scheme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858000" y="4754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5"/>
                </a:solidFill>
              </a:rPr>
              <a:t>Num servidor próprio: é com você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6858000" y="516636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Aqui nasce o problema N+1, que veremos na Parte 4.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858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 txBox="1"/>
          <p:nvPr>
            <p:ph idx="101" type="title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O poder do grafo: aninhar tudo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DE 5 VIAGENS PARA 1</a:t>
            </a:r>
            <a:endParaRPr lang="en-US" sz="1200" dirty="0"/>
          </a:p>
        </p:txBody>
      </p:sp>
      <p:sp>
        <p:nvSpPr>
          <p:cNvPr id="4" name="code-card"/>
          <p:cNvSpPr/>
          <p:nvPr/>
        </p:nvSpPr>
        <p:spPr>
          <a:xfrm>
            <a:off x="548640" y="1508760"/>
            <a:ext cx="5394960" cy="4257548"/>
          </a:xfrm>
          <a:prstGeom prst="roundRect">
            <a:avLst>
              <a:gd name="adj" fmla="val 2577"/>
            </a:avLst>
          </a:prstGeom>
          <a:solidFill>
            <a:schemeClr val="bg2">
              <a:alpha val="88000"/>
            </a:schemeClr>
          </a:solidFill>
          <a:ln w="22225">
            <a:solidFill>
              <a:schemeClr val="accent2">
                <a:alpha val="90000"/>
              </a:scheme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13232" y="1581912"/>
            <a:ext cx="5065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tx2"/>
                </a:solidFill>
              </a:rPr>
              <a:t>A TELA INTEIRA EM UMA QUERY</a:t>
            </a:r>
            <a:endParaRPr lang="en-US" sz="1100" dirty="0"/>
          </a:p>
        </p:txBody>
      </p:sp>
      <p:sp>
        <p:nvSpPr>
          <p:cNvPr id="6" name="code"/>
          <p:cNvSpPr txBox="1"/>
          <p:nvPr/>
        </p:nvSpPr>
        <p:spPr>
          <a:xfrm>
            <a:off x="713232" y="2002536"/>
            <a:ext cx="5065776" cy="3599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180"/>
              </a:lnSpc>
              <a:buNone/>
            </a:pPr>
            <a:r>
              <a:rPr lang="en-US" sz="15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</a:t>
            </a:r>
            <a:pPr indent="0" marL="0">
              <a:lnSpc>
                <a:spcPts val="218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2180"/>
              </a:lnSpc>
              <a:buNone/>
            </a:pPr>
            <a:r>
              <a:rPr lang="en-US" sz="15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Perfil</a:t>
            </a:r>
            <a:pPr indent="0" marL="0">
              <a:lnSpc>
                <a:spcPts val="218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218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500" dirty="0"/>
          </a:p>
          <a:p>
            <a:pPr indent="0" marL="0">
              <a:lnSpc>
                <a:spcPts val="218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218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users_by_pk</a:t>
            </a:r>
            <a:pPr indent="0" marL="0">
              <a:lnSpc>
                <a:spcPts val="218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218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pPr indent="0" marL="0">
              <a:lnSpc>
                <a:spcPts val="218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218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2180"/>
              </a:lnSpc>
              <a:buNone/>
            </a:pPr>
            <a:r>
              <a:rPr lang="en-US" sz="15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lnSpc>
                <a:spcPts val="218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ts val="218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218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500" dirty="0"/>
          </a:p>
          <a:p>
            <a:pPr indent="0" marL="0">
              <a:lnSpc>
                <a:spcPts val="218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218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endParaRPr lang="en-US" sz="1500" dirty="0"/>
          </a:p>
          <a:p>
            <a:pPr indent="0" marL="0">
              <a:lnSpc>
                <a:spcPts val="218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218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bio</a:t>
            </a:r>
            <a:endParaRPr lang="en-US" sz="1500" dirty="0"/>
          </a:p>
          <a:p>
            <a:pPr indent="0" marL="0">
              <a:lnSpc>
                <a:spcPts val="218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218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posts</a:t>
            </a:r>
            <a:pPr indent="0" marL="0">
              <a:lnSpc>
                <a:spcPts val="218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218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500" dirty="0"/>
          </a:p>
          <a:p>
            <a:pPr indent="0" marL="0">
              <a:lnSpc>
                <a:spcPts val="218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ts val="218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title</a:t>
            </a:r>
            <a:endParaRPr lang="en-US" sz="1500" dirty="0"/>
          </a:p>
          <a:p>
            <a:pPr indent="0" marL="0">
              <a:lnSpc>
                <a:spcPts val="218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ts val="218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comments</a:t>
            </a:r>
            <a:pPr indent="0" marL="0">
              <a:lnSpc>
                <a:spcPts val="218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218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500" dirty="0"/>
          </a:p>
          <a:p>
            <a:pPr indent="0" marL="0">
              <a:lnSpc>
                <a:spcPts val="218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ts val="218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</a:t>
            </a:r>
            <a:endParaRPr lang="en-US" sz="1500" dirty="0"/>
          </a:p>
          <a:p>
            <a:pPr indent="0" marL="0">
              <a:lnSpc>
                <a:spcPts val="218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ts val="218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</a:t>
            </a:r>
            <a:pPr indent="0" marL="0">
              <a:lnSpc>
                <a:spcPts val="218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218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ts val="218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218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pPr indent="0" marL="0">
              <a:lnSpc>
                <a:spcPts val="218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218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  <a:p>
            <a:pPr indent="0" marL="0">
              <a:lnSpc>
                <a:spcPts val="218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ts val="218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  <a:p>
            <a:pPr indent="0" marL="0">
              <a:lnSpc>
                <a:spcPts val="218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218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  <a:p>
            <a:pPr indent="0" marL="0">
              <a:lnSpc>
                <a:spcPts val="218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218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  <a:p>
            <a:pPr indent="0" marL="0">
              <a:lnSpc>
                <a:spcPts val="218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</p:txBody>
      </p:sp>
      <p:pic>
        <p:nvPicPr>
          <p:cNvPr id="7" name="Image 0" descr="Árvore: um usuário, três posts e cinco comentário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686800" y="194767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Noah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406640" y="32004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P1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869680" y="32004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P2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0332720" y="32004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P3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6217920" y="19659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usuário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6217920" y="32004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3 posts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6217920" y="43434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coment.</a:t>
            </a:r>
            <a:endParaRPr lang="en-US" sz="1500" dirty="0"/>
          </a:p>
        </p:txBody>
      </p:sp>
      <p:sp>
        <p:nvSpPr>
          <p:cNvPr id="15" name="card"/>
          <p:cNvSpPr/>
          <p:nvPr/>
        </p:nvSpPr>
        <p:spPr>
          <a:xfrm>
            <a:off x="6217920" y="5074920"/>
            <a:ext cx="2468880" cy="1188720"/>
          </a:xfrm>
          <a:prstGeom prst="roundRect">
            <a:avLst>
              <a:gd name="adj" fmla="val 9231"/>
            </a:avLst>
          </a:prstGeom>
          <a:solidFill>
            <a:schemeClr val="bg2">
              <a:alpha val="88000"/>
            </a:schemeClr>
          </a:solidFill>
          <a:ln w="22225">
            <a:solidFill>
              <a:schemeClr val="accent1">
                <a:alpha val="90000"/>
              </a:schemeClr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217920" y="507492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200" b="1" dirty="0">
                <a:solidFill>
                  <a:schemeClr val="accent1"/>
                </a:solidFill>
              </a:rPr>
              <a:t>5</a:t>
            </a:r>
            <a:endParaRPr lang="en-US" sz="5200" dirty="0"/>
          </a:p>
        </p:txBody>
      </p:sp>
      <p:sp>
        <p:nvSpPr>
          <p:cNvPr id="17" name="Text 14"/>
          <p:cNvSpPr txBox="1"/>
          <p:nvPr/>
        </p:nvSpPr>
        <p:spPr>
          <a:xfrm>
            <a:off x="6217920" y="58064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viagens com REST</a:t>
            </a:r>
            <a:endParaRPr lang="en-US" sz="1500" dirty="0"/>
          </a:p>
        </p:txBody>
      </p:sp>
      <p:sp>
        <p:nvSpPr>
          <p:cNvPr id="18" name="arrow"/>
          <p:cNvSpPr/>
          <p:nvPr/>
        </p:nvSpPr>
        <p:spPr>
          <a:xfrm>
            <a:off x="8778240" y="5669280"/>
            <a:ext cx="320040" cy="0"/>
          </a:xfrm>
          <a:prstGeom prst="line">
            <a:avLst/>
          </a:prstGeom>
          <a:noFill/>
          <a:ln w="3175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9" name="card"/>
          <p:cNvSpPr/>
          <p:nvPr/>
        </p:nvSpPr>
        <p:spPr>
          <a:xfrm>
            <a:off x="9144000" y="5074920"/>
            <a:ext cx="2468880" cy="1188720"/>
          </a:xfrm>
          <a:prstGeom prst="roundRect">
            <a:avLst>
              <a:gd name="adj" fmla="val 9231"/>
            </a:avLst>
          </a:prstGeom>
          <a:solidFill>
            <a:schemeClr val="bg2">
              <a:alpha val="88000"/>
            </a:schemeClr>
          </a:solidFill>
          <a:ln w="22225">
            <a:solidFill>
              <a:schemeClr val="accent2">
                <a:alpha val="90000"/>
              </a:schemeClr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144000" y="507492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200" b="1" dirty="0">
                <a:solidFill>
                  <a:schemeClr val="accent2"/>
                </a:solidFill>
              </a:rPr>
              <a:t>1</a:t>
            </a:r>
            <a:endParaRPr lang="en-US" sz="5200" dirty="0"/>
          </a:p>
        </p:txBody>
      </p:sp>
      <p:sp>
        <p:nvSpPr>
          <p:cNvPr id="21" name="Text 18"/>
          <p:cNvSpPr txBox="1"/>
          <p:nvPr/>
        </p:nvSpPr>
        <p:spPr>
          <a:xfrm>
            <a:off x="9144000" y="58064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viagem com GraphQL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858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 txBox="1"/>
          <p:nvPr>
            <p:ph idx="101" type="title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Filtrar, ordenar e paginar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ARGUMENTOS NO HASURA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4173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tx2"/>
                </a:solidFill>
              </a:rPr>
              <a:t>QUERO…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480560" y="14173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tx2"/>
                </a:solidFill>
              </a:rPr>
              <a:t>ESCREVO…</a:t>
            </a:r>
            <a:endParaRPr lang="en-US" sz="1200" dirty="0"/>
          </a:p>
        </p:txBody>
      </p:sp>
      <p:sp>
        <p:nvSpPr>
          <p:cNvPr id="6" name="card"/>
          <p:cNvSpPr/>
          <p:nvPr/>
        </p:nvSpPr>
        <p:spPr>
          <a:xfrm>
            <a:off x="548640" y="1737360"/>
            <a:ext cx="3566160" cy="658368"/>
          </a:xfrm>
          <a:prstGeom prst="roundRect">
            <a:avLst>
              <a:gd name="adj" fmla="val 16667"/>
            </a:avLst>
          </a:prstGeom>
          <a:solidFill>
            <a:schemeClr val="bg2">
              <a:alpha val="88000"/>
            </a:schemeClr>
          </a:solidFill>
          <a:ln w="9525">
            <a:solidFill>
              <a:schemeClr val="tx2">
                <a:alpha val="35000"/>
              </a:scheme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737360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Só 5 usuários</a:t>
            </a:r>
            <a:endParaRPr lang="en-US" sz="1600" dirty="0"/>
          </a:p>
        </p:txBody>
      </p:sp>
      <p:sp>
        <p:nvSpPr>
          <p:cNvPr id="8" name="arrow"/>
          <p:cNvSpPr/>
          <p:nvPr/>
        </p:nvSpPr>
        <p:spPr>
          <a:xfrm>
            <a:off x="4160520" y="2066544"/>
            <a:ext cx="228600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9" name="card"/>
          <p:cNvSpPr/>
          <p:nvPr/>
        </p:nvSpPr>
        <p:spPr>
          <a:xfrm>
            <a:off x="4434840" y="1737360"/>
            <a:ext cx="7178040" cy="658368"/>
          </a:xfrm>
          <a:prstGeom prst="roundRect">
            <a:avLst>
              <a:gd name="adj" fmla="val 16667"/>
            </a:avLst>
          </a:prstGeom>
          <a:solidFill>
            <a:schemeClr val="bg2">
              <a:alpha val="88000"/>
            </a:schemeClr>
          </a:solidFill>
          <a:ln w="22225">
            <a:solidFill>
              <a:schemeClr val="accent2">
                <a:alpha val="90000"/>
              </a:scheme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17720" y="1737360"/>
            <a:ext cx="6858000" cy="6583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users(limit: 5)</a:t>
            </a:r>
            <a:endParaRPr lang="en-US" sz="1500" dirty="0"/>
          </a:p>
        </p:txBody>
      </p:sp>
      <p:sp>
        <p:nvSpPr>
          <p:cNvPr id="11" name="card"/>
          <p:cNvSpPr/>
          <p:nvPr/>
        </p:nvSpPr>
        <p:spPr>
          <a:xfrm>
            <a:off x="548640" y="2505456"/>
            <a:ext cx="3566160" cy="658368"/>
          </a:xfrm>
          <a:prstGeom prst="roundRect">
            <a:avLst>
              <a:gd name="adj" fmla="val 16667"/>
            </a:avLst>
          </a:prstGeom>
          <a:solidFill>
            <a:schemeClr val="bg2">
              <a:alpha val="88000"/>
            </a:schemeClr>
          </a:solidFill>
          <a:ln w="9525">
            <a:solidFill>
              <a:schemeClr val="tx2">
                <a:alpha val="35000"/>
              </a:scheme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2505456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 próxima página</a:t>
            </a:r>
            <a:endParaRPr lang="en-US" sz="1600" dirty="0"/>
          </a:p>
        </p:txBody>
      </p:sp>
      <p:sp>
        <p:nvSpPr>
          <p:cNvPr id="13" name="arrow"/>
          <p:cNvSpPr/>
          <p:nvPr/>
        </p:nvSpPr>
        <p:spPr>
          <a:xfrm>
            <a:off x="4160520" y="2834640"/>
            <a:ext cx="228600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4" name="card"/>
          <p:cNvSpPr/>
          <p:nvPr/>
        </p:nvSpPr>
        <p:spPr>
          <a:xfrm>
            <a:off x="4434840" y="2505456"/>
            <a:ext cx="7178040" cy="658368"/>
          </a:xfrm>
          <a:prstGeom prst="roundRect">
            <a:avLst>
              <a:gd name="adj" fmla="val 16667"/>
            </a:avLst>
          </a:prstGeom>
          <a:solidFill>
            <a:schemeClr val="bg2">
              <a:alpha val="88000"/>
            </a:schemeClr>
          </a:solidFill>
          <a:ln w="22225">
            <a:solidFill>
              <a:schemeClr val="accent2">
                <a:alpha val="90000"/>
              </a:scheme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617720" y="2505456"/>
            <a:ext cx="6858000" cy="6583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users(limit: 5, offset: 5)</a:t>
            </a:r>
            <a:endParaRPr lang="en-US" sz="1500" dirty="0"/>
          </a:p>
        </p:txBody>
      </p:sp>
      <p:sp>
        <p:nvSpPr>
          <p:cNvPr id="16" name="card"/>
          <p:cNvSpPr/>
          <p:nvPr/>
        </p:nvSpPr>
        <p:spPr>
          <a:xfrm>
            <a:off x="548640" y="3273552"/>
            <a:ext cx="3566160" cy="658368"/>
          </a:xfrm>
          <a:prstGeom prst="roundRect">
            <a:avLst>
              <a:gd name="adj" fmla="val 16667"/>
            </a:avLst>
          </a:prstGeom>
          <a:solidFill>
            <a:schemeClr val="bg2">
              <a:alpha val="88000"/>
            </a:schemeClr>
          </a:solidFill>
          <a:ln w="9525">
            <a:solidFill>
              <a:schemeClr val="tx2">
                <a:alpha val="35000"/>
              </a:scheme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3273552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Em ordem alfabética</a:t>
            </a:r>
            <a:endParaRPr lang="en-US" sz="1600" dirty="0"/>
          </a:p>
        </p:txBody>
      </p:sp>
      <p:sp>
        <p:nvSpPr>
          <p:cNvPr id="18" name="arrow"/>
          <p:cNvSpPr/>
          <p:nvPr/>
        </p:nvSpPr>
        <p:spPr>
          <a:xfrm>
            <a:off x="4160520" y="3602736"/>
            <a:ext cx="228600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9" name="card"/>
          <p:cNvSpPr/>
          <p:nvPr/>
        </p:nvSpPr>
        <p:spPr>
          <a:xfrm>
            <a:off x="4434840" y="3273552"/>
            <a:ext cx="7178040" cy="658368"/>
          </a:xfrm>
          <a:prstGeom prst="roundRect">
            <a:avLst>
              <a:gd name="adj" fmla="val 16667"/>
            </a:avLst>
          </a:prstGeom>
          <a:solidFill>
            <a:schemeClr val="bg2">
              <a:alpha val="88000"/>
            </a:schemeClr>
          </a:solidFill>
          <a:ln w="22225">
            <a:solidFill>
              <a:schemeClr val="accent2">
                <a:alpha val="90000"/>
              </a:scheme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617720" y="3273552"/>
            <a:ext cx="6858000" cy="6583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users(order_by: {name: asc})</a:t>
            </a:r>
            <a:endParaRPr lang="en-US" sz="1500" dirty="0"/>
          </a:p>
        </p:txBody>
      </p:sp>
      <p:sp>
        <p:nvSpPr>
          <p:cNvPr id="21" name="card"/>
          <p:cNvSpPr/>
          <p:nvPr/>
        </p:nvSpPr>
        <p:spPr>
          <a:xfrm>
            <a:off x="548640" y="4041648"/>
            <a:ext cx="3566160" cy="658368"/>
          </a:xfrm>
          <a:prstGeom prst="roundRect">
            <a:avLst>
              <a:gd name="adj" fmla="val 16667"/>
            </a:avLst>
          </a:prstGeom>
          <a:solidFill>
            <a:schemeClr val="bg2">
              <a:alpha val="88000"/>
            </a:schemeClr>
          </a:solidFill>
          <a:ln w="9525">
            <a:solidFill>
              <a:schemeClr val="tx2">
                <a:alpha val="35000"/>
              </a:scheme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77240" y="4041648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Nome que contém "ana"</a:t>
            </a:r>
            <a:endParaRPr lang="en-US" sz="1600" dirty="0"/>
          </a:p>
        </p:txBody>
      </p:sp>
      <p:sp>
        <p:nvSpPr>
          <p:cNvPr id="23" name="arrow"/>
          <p:cNvSpPr/>
          <p:nvPr/>
        </p:nvSpPr>
        <p:spPr>
          <a:xfrm>
            <a:off x="4160520" y="4370832"/>
            <a:ext cx="228600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4" name="card"/>
          <p:cNvSpPr/>
          <p:nvPr/>
        </p:nvSpPr>
        <p:spPr>
          <a:xfrm>
            <a:off x="4434840" y="4041648"/>
            <a:ext cx="7178040" cy="658368"/>
          </a:xfrm>
          <a:prstGeom prst="roundRect">
            <a:avLst>
              <a:gd name="adj" fmla="val 16667"/>
            </a:avLst>
          </a:prstGeom>
          <a:solidFill>
            <a:schemeClr val="bg2">
              <a:alpha val="88000"/>
            </a:schemeClr>
          </a:solidFill>
          <a:ln w="22225">
            <a:solidFill>
              <a:schemeClr val="accent2">
                <a:alpha val="90000"/>
              </a:scheme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617720" y="4041648"/>
            <a:ext cx="6858000" cy="6583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users(where: {name: {_ilike: "%ana%"}})</a:t>
            </a:r>
            <a:endParaRPr lang="en-US" sz="1500" dirty="0"/>
          </a:p>
        </p:txBody>
      </p:sp>
      <p:sp>
        <p:nvSpPr>
          <p:cNvPr id="26" name="card"/>
          <p:cNvSpPr/>
          <p:nvPr/>
        </p:nvSpPr>
        <p:spPr>
          <a:xfrm>
            <a:off x="548640" y="4809744"/>
            <a:ext cx="3566160" cy="658368"/>
          </a:xfrm>
          <a:prstGeom prst="roundRect">
            <a:avLst>
              <a:gd name="adj" fmla="val 16667"/>
            </a:avLst>
          </a:prstGeom>
          <a:solidFill>
            <a:schemeClr val="bg2">
              <a:alpha val="88000"/>
            </a:schemeClr>
          </a:solidFill>
          <a:ln w="9525">
            <a:solidFill>
              <a:schemeClr val="tx2">
                <a:alpha val="35000"/>
              </a:schemeClr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77240" y="4809744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Quem tem mais de 3 posts</a:t>
            </a:r>
            <a:endParaRPr lang="en-US" sz="1600" dirty="0"/>
          </a:p>
        </p:txBody>
      </p:sp>
      <p:sp>
        <p:nvSpPr>
          <p:cNvPr id="28" name="arrow"/>
          <p:cNvSpPr/>
          <p:nvPr/>
        </p:nvSpPr>
        <p:spPr>
          <a:xfrm>
            <a:off x="4160520" y="5138928"/>
            <a:ext cx="228600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9" name="card"/>
          <p:cNvSpPr/>
          <p:nvPr/>
        </p:nvSpPr>
        <p:spPr>
          <a:xfrm>
            <a:off x="4434840" y="4809744"/>
            <a:ext cx="7178040" cy="658368"/>
          </a:xfrm>
          <a:prstGeom prst="roundRect">
            <a:avLst>
              <a:gd name="adj" fmla="val 16667"/>
            </a:avLst>
          </a:prstGeom>
          <a:solidFill>
            <a:schemeClr val="bg2">
              <a:alpha val="88000"/>
            </a:schemeClr>
          </a:solidFill>
          <a:ln w="22225">
            <a:solidFill>
              <a:schemeClr val="accent2">
                <a:alpha val="90000"/>
              </a:schemeClr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617720" y="4809744"/>
            <a:ext cx="6858000" cy="6583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users(where: {posts_aggregate: {count: {predicate: {_gt: 3}}}})</a:t>
            </a:r>
            <a:endParaRPr lang="en-US" sz="1300" dirty="0"/>
          </a:p>
        </p:txBody>
      </p:sp>
      <p:sp>
        <p:nvSpPr>
          <p:cNvPr id="31" name="card"/>
          <p:cNvSpPr/>
          <p:nvPr/>
        </p:nvSpPr>
        <p:spPr>
          <a:xfrm>
            <a:off x="548640" y="5623560"/>
            <a:ext cx="11064240" cy="566928"/>
          </a:xfrm>
          <a:prstGeom prst="roundRect">
            <a:avLst>
              <a:gd name="adj" fmla="val 19355"/>
            </a:avLst>
          </a:prstGeom>
          <a:solidFill>
            <a:schemeClr val="bg2">
              <a:alpha val="88000"/>
            </a:schemeClr>
          </a:solidFill>
          <a:ln w="22225">
            <a:solidFill>
              <a:schemeClr val="accent6">
                <a:alpha val="90000"/>
              </a:schemeClr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77240" y="562356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where, order_by, limit e offset são do Hasura. O GraphQL define só a forma: cada servidor escolhe os seus argumentos.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858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 txBox="1"/>
          <p:nvPr>
            <p:ph idx="101" type="title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Contar sem baixar tudo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AGREGAÇÕES</a:t>
            </a:r>
            <a:endParaRPr lang="en-US" sz="1200" dirty="0"/>
          </a:p>
        </p:txBody>
      </p:sp>
      <p:sp>
        <p:nvSpPr>
          <p:cNvPr id="4" name="code-card"/>
          <p:cNvSpPr/>
          <p:nvPr/>
        </p:nvSpPr>
        <p:spPr>
          <a:xfrm>
            <a:off x="548640" y="1508760"/>
            <a:ext cx="5394960" cy="2205228"/>
          </a:xfrm>
          <a:prstGeom prst="roundRect">
            <a:avLst>
              <a:gd name="adj" fmla="val 4976"/>
            </a:avLst>
          </a:prstGeom>
          <a:solidFill>
            <a:schemeClr val="bg2">
              <a:alpha val="88000"/>
            </a:schemeClr>
          </a:solidFill>
          <a:ln w="22225">
            <a:solidFill>
              <a:schemeClr val="accent2">
                <a:alpha val="90000"/>
              </a:scheme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13232" y="1581912"/>
            <a:ext cx="5065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tx2"/>
                </a:solidFill>
              </a:rPr>
              <a:t>QUERY</a:t>
            </a:r>
            <a:endParaRPr lang="en-US" sz="1100" dirty="0"/>
          </a:p>
        </p:txBody>
      </p:sp>
      <p:sp>
        <p:nvSpPr>
          <p:cNvPr id="6" name="code"/>
          <p:cNvSpPr txBox="1"/>
          <p:nvPr/>
        </p:nvSpPr>
        <p:spPr>
          <a:xfrm>
            <a:off x="713232" y="2002536"/>
            <a:ext cx="5065776" cy="1546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400" dirty="0"/>
          </a:p>
          <a:p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users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order_by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asc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400" dirty="0"/>
          </a:p>
          <a:p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endParaRPr lang="en-US" sz="1400" dirty="0"/>
          </a:p>
          <a:p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2030"/>
              </a:lnSpc>
              <a:buNone/>
            </a:pPr>
            <a:r>
              <a:rPr lang="en-US" sz="1400" b="1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posts_aggregate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aggregate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2030"/>
              </a:lnSpc>
              <a:buNone/>
            </a:pPr>
            <a:r>
              <a:rPr lang="en-US" sz="1400" b="1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  <a:p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  <a:p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7" name="code-card"/>
          <p:cNvSpPr/>
          <p:nvPr/>
        </p:nvSpPr>
        <p:spPr>
          <a:xfrm>
            <a:off x="548640" y="3886200"/>
            <a:ext cx="5394960" cy="1984248"/>
          </a:xfrm>
          <a:prstGeom prst="roundRect">
            <a:avLst>
              <a:gd name="adj" fmla="val 5530"/>
            </a:avLst>
          </a:prstGeom>
          <a:solidFill>
            <a:schemeClr val="bg2">
              <a:alpha val="88000"/>
            </a:schemeClr>
          </a:solidFill>
          <a:ln w="22225">
            <a:solidFill>
              <a:schemeClr val="accent4">
                <a:alpha val="90000"/>
              </a:scheme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13232" y="3959352"/>
            <a:ext cx="5065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tx2"/>
                </a:solidFill>
              </a:rPr>
              <a:t>RESPOSTA REAL DO LAB</a:t>
            </a:r>
            <a:endParaRPr lang="en-US" sz="1100" dirty="0"/>
          </a:p>
        </p:txBody>
      </p:sp>
      <p:sp>
        <p:nvSpPr>
          <p:cNvPr id="9" name="code"/>
          <p:cNvSpPr txBox="1"/>
          <p:nvPr/>
        </p:nvSpPr>
        <p:spPr>
          <a:xfrm>
            <a:off x="713232" y="4379976"/>
            <a:ext cx="5065776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"data"</a:t>
            </a:r>
            <a:pPr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"users"</a:t>
            </a:r>
            <a:pPr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endParaRPr lang="en-US" sz="1200" dirty="0"/>
          </a:p>
          <a:p>
            <a:pPr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"name"</a:t>
            </a:r>
            <a:pPr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"Talita Nogueira Jr."</a:t>
            </a:r>
            <a:pPr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00" dirty="0"/>
          </a:p>
          <a:p>
            <a:pPr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"posts_aggregate"</a:t>
            </a:r>
            <a:pPr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"aggregate"</a:t>
            </a:r>
            <a:pPr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"count"</a:t>
            </a:r>
            <a:pPr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00" dirty="0"/>
          </a:p>
          <a:p>
            <a:pPr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"name"</a:t>
            </a:r>
            <a:pPr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"Noah Xavier"</a:t>
            </a:r>
            <a:pPr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</a:t>
            </a:r>
            <a:pPr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"count"</a:t>
            </a:r>
            <a:pPr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pic>
        <p:nvPicPr>
          <p:cNvPr id="10" name="Image 0" descr="Tela de usuários do lab com cards mostrando contagem de posts e comentário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0" y="1508760"/>
            <a:ext cx="5394960" cy="1819656"/>
          </a:xfrm>
          <a:prstGeom prst="rect">
            <a:avLst/>
          </a:prstGeom>
        </p:spPr>
      </p:pic>
      <p:sp>
        <p:nvSpPr>
          <p:cNvPr id="11" name="highlight"/>
          <p:cNvSpPr/>
          <p:nvPr/>
        </p:nvSpPr>
        <p:spPr>
          <a:xfrm>
            <a:off x="6336792" y="2130552"/>
            <a:ext cx="457200" cy="182880"/>
          </a:xfrm>
          <a:prstGeom prst="roundRect">
            <a:avLst>
              <a:gd name="adj" fmla="val 50000"/>
            </a:avLst>
          </a:prstGeom>
          <a:solidFill>
            <a:schemeClr val="accent2">
              <a:alpha val="0"/>
            </a:schemeClr>
          </a:solidFill>
          <a:ln w="25400">
            <a:solidFill>
              <a:schemeClr val="accent2"/>
            </a:solidFill>
            <a:prstDash val="solid"/>
          </a:ln>
        </p:spPr>
      </p:sp>
      <p:sp>
        <p:nvSpPr>
          <p:cNvPr id="12" name="card"/>
          <p:cNvSpPr/>
          <p:nvPr/>
        </p:nvSpPr>
        <p:spPr>
          <a:xfrm>
            <a:off x="6217920" y="3566160"/>
            <a:ext cx="5394960" cy="2560320"/>
          </a:xfrm>
          <a:prstGeom prst="roundRect">
            <a:avLst>
              <a:gd name="adj" fmla="val 4286"/>
            </a:avLst>
          </a:prstGeom>
          <a:solidFill>
            <a:schemeClr val="bg2">
              <a:alpha val="88000"/>
            </a:schemeClr>
          </a:solidFill>
          <a:ln w="22225">
            <a:solidFill>
              <a:schemeClr val="accent2">
                <a:alpha val="90000"/>
              </a:schemeClr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36576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É daqui que vem o "4 posts" do card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4114800"/>
            <a:ext cx="4937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 banco conta e devolve um número. Sem agregação você baixaria todos os posts de cada usuário só para contar.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Veja em web/src/views/UsersView.vue.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858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body" hasCustomPrompt="1"/>
          </p:nvPr>
        </p:nvSpPr>
        <p:spPr>
          <a:xfrm>
            <a:off x="731520" y="21031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400" kern="0" dirty="0">
                <a:solidFill>
                  <a:schemeClr val="accent2"/>
                </a:solidFill>
              </a:rPr>
              <a:t>PARTE 3</a:t>
            </a:r>
            <a:endParaRPr lang="en-US" sz="1600" dirty="0"/>
          </a:p>
        </p:txBody>
      </p:sp>
      <p:sp>
        <p:nvSpPr>
          <p:cNvPr id="3" name="Text 0"/>
          <p:cNvSpPr txBox="1"/>
          <p:nvPr>
            <p:ph idx="101" type="title" hasCustomPrompt="1"/>
          </p:nvPr>
        </p:nvSpPr>
        <p:spPr>
          <a:xfrm>
            <a:off x="731520" y="2514600"/>
            <a:ext cx="7498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tx1"/>
                </a:solidFill>
              </a:rPr>
              <a:t>No nosso lab</a:t>
            </a:r>
            <a:endParaRPr lang="en-US" sz="4800" dirty="0"/>
          </a:p>
        </p:txBody>
      </p:sp>
      <p:sp>
        <p:nvSpPr>
          <p:cNvPr id="4" name="Text 0"/>
          <p:cNvSpPr txBox="1"/>
          <p:nvPr>
            <p:ph idx="102" type="body" hasCustomPrompt="1"/>
          </p:nvPr>
        </p:nvSpPr>
        <p:spPr>
          <a:xfrm>
            <a:off x="731520" y="379476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O caminho de um clique até o banco de dados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863840" y="1280160"/>
            <a:ext cx="38404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b="1" dirty="0">
                <a:solidFill>
                  <a:schemeClr val="accent2">
                    <a:alpha val="18000"/>
                  </a:schemeClr>
                </a:solidFill>
              </a:rPr>
              <a:t>03</a:t>
            </a:r>
            <a:endParaRPr lang="en-US" sz="20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 txBox="1"/>
          <p:nvPr>
            <p:ph idx="101" type="title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O caminho de um clique até o banco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3"/>
                </a:solidFill>
              </a:rPr>
              <a:t>PASSO A PASSO</a:t>
            </a:r>
            <a:endParaRPr lang="en-US" sz="1200" dirty="0"/>
          </a:p>
        </p:txBody>
      </p:sp>
      <p:sp>
        <p:nvSpPr>
          <p:cNvPr id="4" name="card"/>
          <p:cNvSpPr/>
          <p:nvPr/>
        </p:nvSpPr>
        <p:spPr>
          <a:xfrm>
            <a:off x="548640" y="1554480"/>
            <a:ext cx="3383280" cy="2194560"/>
          </a:xfrm>
          <a:prstGeom prst="roundRect">
            <a:avLst>
              <a:gd name="adj" fmla="val 5000"/>
            </a:avLst>
          </a:prstGeom>
          <a:solidFill>
            <a:schemeClr val="bg2">
              <a:alpha val="88000"/>
            </a:schemeClr>
          </a:solidFill>
          <a:ln w="22225">
            <a:solidFill>
              <a:schemeClr val="accent1">
                <a:alpha val="90000"/>
              </a:schemeClr>
            </a:solidFill>
            <a:prstDash val="solid"/>
          </a:ln>
        </p:spPr>
      </p:sp>
      <p:sp>
        <p:nvSpPr>
          <p:cNvPr id="5" name="badge"/>
          <p:cNvSpPr/>
          <p:nvPr/>
        </p:nvSpPr>
        <p:spPr>
          <a:xfrm>
            <a:off x="731520" y="1737360"/>
            <a:ext cx="384048" cy="384048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icon-bg"/>
          <p:cNvSpPr/>
          <p:nvPr/>
        </p:nvSpPr>
        <p:spPr>
          <a:xfrm>
            <a:off x="2971800" y="1691640"/>
            <a:ext cx="777240" cy="777240"/>
          </a:xfrm>
          <a:prstGeom prst="ellipse">
            <a:avLst/>
          </a:prstGeom>
          <a:solidFill>
            <a:schemeClr val="accent1">
              <a:alpha val="20000"/>
            </a:schemeClr>
          </a:solidFill>
          <a:ln w="12700">
            <a:solidFill>
              <a:schemeClr val="accent1">
                <a:alpha val="60000"/>
              </a:schemeClr>
            </a:solidFill>
            <a:prstDash val="solid"/>
          </a:ln>
        </p:spPr>
      </p:sp>
      <p:pic>
        <p:nvPicPr>
          <p:cNvPr id="8" name="Image 0" descr="MousePointer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66110" y="1885950"/>
            <a:ext cx="388620" cy="38862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77240" y="24231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Você abre /users/2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288036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UserView.vue chama load()</a:t>
            </a:r>
            <a:endParaRPr lang="en-US" sz="1600" dirty="0"/>
          </a:p>
        </p:txBody>
      </p:sp>
      <p:sp>
        <p:nvSpPr>
          <p:cNvPr id="11" name="card"/>
          <p:cNvSpPr/>
          <p:nvPr/>
        </p:nvSpPr>
        <p:spPr>
          <a:xfrm>
            <a:off x="4389120" y="1554480"/>
            <a:ext cx="3383280" cy="2194560"/>
          </a:xfrm>
          <a:prstGeom prst="roundRect">
            <a:avLst>
              <a:gd name="adj" fmla="val 5000"/>
            </a:avLst>
          </a:prstGeom>
          <a:solidFill>
            <a:schemeClr val="bg2">
              <a:alpha val="88000"/>
            </a:schemeClr>
          </a:solidFill>
          <a:ln w="22225">
            <a:solidFill>
              <a:schemeClr val="accent2">
                <a:alpha val="90000"/>
              </a:schemeClr>
            </a:solidFill>
            <a:prstDash val="solid"/>
          </a:ln>
        </p:spPr>
      </p:sp>
      <p:sp>
        <p:nvSpPr>
          <p:cNvPr id="12" name="badge"/>
          <p:cNvSpPr/>
          <p:nvPr/>
        </p:nvSpPr>
        <p:spPr>
          <a:xfrm>
            <a:off x="4572000" y="1737360"/>
            <a:ext cx="384048" cy="384048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57200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icon-bg"/>
          <p:cNvSpPr/>
          <p:nvPr/>
        </p:nvSpPr>
        <p:spPr>
          <a:xfrm>
            <a:off x="6812280" y="1691640"/>
            <a:ext cx="777240" cy="777240"/>
          </a:xfrm>
          <a:prstGeom prst="ellipse">
            <a:avLst/>
          </a:prstGeom>
          <a:solidFill>
            <a:schemeClr val="accent2">
              <a:alpha val="20000"/>
            </a:schemeClr>
          </a:solidFill>
          <a:ln w="12700">
            <a:solidFill>
              <a:schemeClr val="accent2">
                <a:alpha val="60000"/>
              </a:schemeClr>
            </a:solidFill>
            <a:prstDash val="solid"/>
          </a:ln>
        </p:spPr>
      </p:sp>
      <p:pic>
        <p:nvPicPr>
          <p:cNvPr id="15" name="Image 1" descr="PaperPlane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6590" y="1885950"/>
            <a:ext cx="388620" cy="38862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4617720" y="24231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gql(QUERY, vars)</a:t>
            </a:r>
            <a:endParaRPr lang="en-US" sz="2200" dirty="0"/>
          </a:p>
        </p:txBody>
      </p:sp>
      <p:sp>
        <p:nvSpPr>
          <p:cNvPr id="17" name="Text 13"/>
          <p:cNvSpPr txBox="1"/>
          <p:nvPr/>
        </p:nvSpPr>
        <p:spPr>
          <a:xfrm>
            <a:off x="4617720" y="288036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fetch POST em localhost:8080/v1/graphql</a:t>
            </a:r>
            <a:endParaRPr lang="en-US" sz="1600" dirty="0"/>
          </a:p>
        </p:txBody>
      </p:sp>
      <p:sp>
        <p:nvSpPr>
          <p:cNvPr id="18" name="card"/>
          <p:cNvSpPr/>
          <p:nvPr/>
        </p:nvSpPr>
        <p:spPr>
          <a:xfrm>
            <a:off x="8229600" y="1554480"/>
            <a:ext cx="3383280" cy="2194560"/>
          </a:xfrm>
          <a:prstGeom prst="roundRect">
            <a:avLst>
              <a:gd name="adj" fmla="val 5000"/>
            </a:avLst>
          </a:prstGeom>
          <a:solidFill>
            <a:schemeClr val="bg2">
              <a:alpha val="88000"/>
            </a:schemeClr>
          </a:solidFill>
          <a:ln w="22225">
            <a:solidFill>
              <a:schemeClr val="accent6">
                <a:alpha val="90000"/>
              </a:schemeClr>
            </a:solidFill>
            <a:prstDash val="solid"/>
          </a:ln>
        </p:spPr>
      </p:sp>
      <p:sp>
        <p:nvSpPr>
          <p:cNvPr id="19" name="badge"/>
          <p:cNvSpPr/>
          <p:nvPr/>
        </p:nvSpPr>
        <p:spPr>
          <a:xfrm>
            <a:off x="8412480" y="1737360"/>
            <a:ext cx="384048" cy="384048"/>
          </a:xfrm>
          <a:prstGeom prst="ellipse">
            <a:avLst/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841248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21" name="icon-bg"/>
          <p:cNvSpPr/>
          <p:nvPr/>
        </p:nvSpPr>
        <p:spPr>
          <a:xfrm>
            <a:off x="10652760" y="1691640"/>
            <a:ext cx="777240" cy="777240"/>
          </a:xfrm>
          <a:prstGeom prst="ellipse">
            <a:avLst/>
          </a:prstGeom>
          <a:solidFill>
            <a:schemeClr val="accent6">
              <a:alpha val="20000"/>
            </a:schemeClr>
          </a:solidFill>
          <a:ln w="12700">
            <a:solidFill>
              <a:schemeClr val="accent6">
                <a:alpha val="60000"/>
              </a:schemeClr>
            </a:solidFill>
            <a:prstDash val="solid"/>
          </a:ln>
        </p:spPr>
      </p:sp>
      <p:pic>
        <p:nvPicPr>
          <p:cNvPr id="22" name="Image 2" descr="ShieldAlt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47070" y="1885950"/>
            <a:ext cx="388620" cy="388620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8458200" y="24231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Hasura valida</a:t>
            </a:r>
            <a:endParaRPr lang="en-US" sz="2200" dirty="0"/>
          </a:p>
        </p:txBody>
      </p:sp>
      <p:sp>
        <p:nvSpPr>
          <p:cNvPr id="24" name="Text 19"/>
          <p:cNvSpPr txBox="1"/>
          <p:nvPr/>
        </p:nvSpPr>
        <p:spPr>
          <a:xfrm>
            <a:off x="8458200" y="288036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Campo existe? Tipo certo? A role public pode ler?</a:t>
            </a:r>
            <a:endParaRPr lang="en-US" sz="1600" dirty="0"/>
          </a:p>
        </p:txBody>
      </p:sp>
      <p:sp>
        <p:nvSpPr>
          <p:cNvPr id="25" name="card"/>
          <p:cNvSpPr/>
          <p:nvPr/>
        </p:nvSpPr>
        <p:spPr>
          <a:xfrm>
            <a:off x="8229600" y="4023360"/>
            <a:ext cx="3383280" cy="2194560"/>
          </a:xfrm>
          <a:prstGeom prst="roundRect">
            <a:avLst>
              <a:gd name="adj" fmla="val 5000"/>
            </a:avLst>
          </a:prstGeom>
          <a:solidFill>
            <a:schemeClr val="bg2">
              <a:alpha val="88000"/>
            </a:schemeClr>
          </a:solidFill>
          <a:ln w="22225">
            <a:solidFill>
              <a:schemeClr val="accent2">
                <a:alpha val="90000"/>
              </a:schemeClr>
            </a:solidFill>
            <a:prstDash val="solid"/>
          </a:ln>
        </p:spPr>
      </p:sp>
      <p:sp>
        <p:nvSpPr>
          <p:cNvPr id="26" name="badge"/>
          <p:cNvSpPr/>
          <p:nvPr/>
        </p:nvSpPr>
        <p:spPr>
          <a:xfrm>
            <a:off x="8412480" y="4206240"/>
            <a:ext cx="384048" cy="384048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8412480" y="4206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8" name="icon-bg"/>
          <p:cNvSpPr/>
          <p:nvPr/>
        </p:nvSpPr>
        <p:spPr>
          <a:xfrm>
            <a:off x="10652760" y="4160520"/>
            <a:ext cx="777240" cy="777240"/>
          </a:xfrm>
          <a:prstGeom prst="ellipse">
            <a:avLst/>
          </a:prstGeom>
          <a:solidFill>
            <a:schemeClr val="accent2">
              <a:alpha val="20000"/>
            </a:schemeClr>
          </a:solidFill>
          <a:ln w="12700">
            <a:solidFill>
              <a:schemeClr val="accent2">
                <a:alpha val="60000"/>
              </a:schemeClr>
            </a:solidFill>
            <a:prstDash val="solid"/>
          </a:ln>
        </p:spPr>
      </p:sp>
      <p:pic>
        <p:nvPicPr>
          <p:cNvPr id="29" name="Image 3" descr="Cogs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47070" y="4354830"/>
            <a:ext cx="388620" cy="388620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8458200" y="48920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Hasura gera 1 SQL</a:t>
            </a:r>
            <a:endParaRPr lang="en-US" sz="2200" dirty="0"/>
          </a:p>
        </p:txBody>
      </p:sp>
      <p:sp>
        <p:nvSpPr>
          <p:cNvPr id="31" name="Text 25"/>
          <p:cNvSpPr txBox="1"/>
          <p:nvPr/>
        </p:nvSpPr>
        <p:spPr>
          <a:xfrm>
            <a:off x="8458200" y="534924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Relacionamentos viram JOIN LATERAL</a:t>
            </a:r>
            <a:endParaRPr lang="en-US" sz="1600" dirty="0"/>
          </a:p>
        </p:txBody>
      </p:sp>
      <p:sp>
        <p:nvSpPr>
          <p:cNvPr id="32" name="card"/>
          <p:cNvSpPr/>
          <p:nvPr/>
        </p:nvSpPr>
        <p:spPr>
          <a:xfrm>
            <a:off x="4389120" y="4023360"/>
            <a:ext cx="3383280" cy="2194560"/>
          </a:xfrm>
          <a:prstGeom prst="roundRect">
            <a:avLst>
              <a:gd name="adj" fmla="val 5000"/>
            </a:avLst>
          </a:prstGeom>
          <a:solidFill>
            <a:schemeClr val="bg2">
              <a:alpha val="88000"/>
            </a:schemeClr>
          </a:solidFill>
          <a:ln w="22225">
            <a:solidFill>
              <a:schemeClr val="accent3">
                <a:alpha val="90000"/>
              </a:schemeClr>
            </a:solidFill>
            <a:prstDash val="solid"/>
          </a:ln>
        </p:spPr>
      </p:sp>
      <p:sp>
        <p:nvSpPr>
          <p:cNvPr id="33" name="badge"/>
          <p:cNvSpPr/>
          <p:nvPr/>
        </p:nvSpPr>
        <p:spPr>
          <a:xfrm>
            <a:off x="4572000" y="4206240"/>
            <a:ext cx="384048" cy="384048"/>
          </a:xfrm>
          <a:prstGeom prst="ellipse">
            <a:avLst/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</p:sp>
      <p:sp>
        <p:nvSpPr>
          <p:cNvPr id="34" name="Text 28"/>
          <p:cNvSpPr txBox="1"/>
          <p:nvPr/>
        </p:nvSpPr>
        <p:spPr>
          <a:xfrm>
            <a:off x="4572000" y="4206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35" name="icon-bg"/>
          <p:cNvSpPr/>
          <p:nvPr/>
        </p:nvSpPr>
        <p:spPr>
          <a:xfrm>
            <a:off x="6812280" y="4160520"/>
            <a:ext cx="777240" cy="777240"/>
          </a:xfrm>
          <a:prstGeom prst="ellipse">
            <a:avLst/>
          </a:prstGeom>
          <a:solidFill>
            <a:schemeClr val="accent3">
              <a:alpha val="20000"/>
            </a:schemeClr>
          </a:solidFill>
          <a:ln w="12700">
            <a:solidFill>
              <a:schemeClr val="accent3">
                <a:alpha val="60000"/>
              </a:schemeClr>
            </a:solidFill>
            <a:prstDash val="solid"/>
          </a:ln>
        </p:spPr>
      </p:sp>
      <p:pic>
        <p:nvPicPr>
          <p:cNvPr id="36" name="Image 4" descr="Database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06590" y="4354830"/>
            <a:ext cx="388620" cy="388620"/>
          </a:xfrm>
          <a:prstGeom prst="rect">
            <a:avLst/>
          </a:prstGeom>
        </p:spPr>
      </p:pic>
      <p:sp>
        <p:nvSpPr>
          <p:cNvPr id="37" name="Text 30"/>
          <p:cNvSpPr txBox="1"/>
          <p:nvPr/>
        </p:nvSpPr>
        <p:spPr>
          <a:xfrm>
            <a:off x="4617720" y="48920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Postgres executa</a:t>
            </a:r>
            <a:endParaRPr lang="en-US" sz="2200" dirty="0"/>
          </a:p>
        </p:txBody>
      </p:sp>
      <p:sp>
        <p:nvSpPr>
          <p:cNvPr id="38" name="Text 31"/>
          <p:cNvSpPr txBox="1"/>
          <p:nvPr/>
        </p:nvSpPr>
        <p:spPr>
          <a:xfrm>
            <a:off x="4617720" y="534924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Usa índices, como posts_user_id_idx</a:t>
            </a:r>
            <a:endParaRPr lang="en-US" sz="1600" dirty="0"/>
          </a:p>
        </p:txBody>
      </p:sp>
      <p:sp>
        <p:nvSpPr>
          <p:cNvPr id="39" name="card"/>
          <p:cNvSpPr/>
          <p:nvPr/>
        </p:nvSpPr>
        <p:spPr>
          <a:xfrm>
            <a:off x="548640" y="4023360"/>
            <a:ext cx="3383280" cy="2194560"/>
          </a:xfrm>
          <a:prstGeom prst="roundRect">
            <a:avLst>
              <a:gd name="adj" fmla="val 5000"/>
            </a:avLst>
          </a:prstGeom>
          <a:solidFill>
            <a:schemeClr val="bg2">
              <a:alpha val="88000"/>
            </a:schemeClr>
          </a:solidFill>
          <a:ln w="22225">
            <a:solidFill>
              <a:schemeClr val="accent4">
                <a:alpha val="90000"/>
              </a:schemeClr>
            </a:solidFill>
            <a:prstDash val="solid"/>
          </a:ln>
        </p:spPr>
      </p:sp>
      <p:sp>
        <p:nvSpPr>
          <p:cNvPr id="40" name="badge"/>
          <p:cNvSpPr/>
          <p:nvPr/>
        </p:nvSpPr>
        <p:spPr>
          <a:xfrm>
            <a:off x="731520" y="4206240"/>
            <a:ext cx="384048" cy="384048"/>
          </a:xfrm>
          <a:prstGeom prst="ellipse">
            <a:avLst/>
          </a:prstGeom>
          <a:solidFill>
            <a:schemeClr val="accent4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41" name="Text 34"/>
          <p:cNvSpPr txBox="1"/>
          <p:nvPr/>
        </p:nvSpPr>
        <p:spPr>
          <a:xfrm>
            <a:off x="731520" y="4206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6</a:t>
            </a:r>
            <a:endParaRPr lang="en-US" sz="1400" dirty="0"/>
          </a:p>
        </p:txBody>
      </p:sp>
      <p:sp>
        <p:nvSpPr>
          <p:cNvPr id="42" name="icon-bg"/>
          <p:cNvSpPr/>
          <p:nvPr/>
        </p:nvSpPr>
        <p:spPr>
          <a:xfrm>
            <a:off x="2971800" y="4160520"/>
            <a:ext cx="777240" cy="777240"/>
          </a:xfrm>
          <a:prstGeom prst="ellipse">
            <a:avLst/>
          </a:prstGeom>
          <a:solidFill>
            <a:schemeClr val="accent4">
              <a:alpha val="20000"/>
            </a:schemeClr>
          </a:solidFill>
          <a:ln w="12700">
            <a:solidFill>
              <a:schemeClr val="accent4">
                <a:alpha val="60000"/>
              </a:schemeClr>
            </a:solidFill>
            <a:prstDash val="solid"/>
          </a:ln>
        </p:spPr>
      </p:sp>
      <p:pic>
        <p:nvPicPr>
          <p:cNvPr id="43" name="Image 5" descr="CheckCircle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66110" y="4354830"/>
            <a:ext cx="388620" cy="388620"/>
          </a:xfrm>
          <a:prstGeom prst="rect">
            <a:avLst/>
          </a:prstGeom>
        </p:spPr>
      </p:pic>
      <p:sp>
        <p:nvSpPr>
          <p:cNvPr id="44" name="Text 36"/>
          <p:cNvSpPr txBox="1"/>
          <p:nvPr/>
        </p:nvSpPr>
        <p:spPr>
          <a:xfrm>
            <a:off x="777240" y="48920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JSON volta ao Vue</a:t>
            </a:r>
            <a:endParaRPr lang="en-US" sz="2200" dirty="0"/>
          </a:p>
        </p:txBody>
      </p:sp>
      <p:sp>
        <p:nvSpPr>
          <p:cNvPr id="45" name="Text 37"/>
          <p:cNvSpPr txBox="1"/>
          <p:nvPr/>
        </p:nvSpPr>
        <p:spPr>
          <a:xfrm>
            <a:off x="777240" y="534924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O template renderiza o que veio</a:t>
            </a:r>
            <a:endParaRPr lang="en-US" sz="1600" dirty="0"/>
          </a:p>
        </p:txBody>
      </p:sp>
      <p:pic>
        <p:nvPicPr>
          <p:cNvPr id="46" name="Image 6" descr="Conectores brilhantes entre as etapas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858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 txBox="1"/>
          <p:nvPr>
            <p:ph idx="101" type="title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O cliente inteiro cabe em 10 linhas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3"/>
                </a:solidFill>
              </a:rPr>
              <a:t>WEB/SRC/LIB/GRAPHQL.JS (RESUMIDO)</a:t>
            </a:r>
            <a:endParaRPr lang="en-US" sz="1200" dirty="0"/>
          </a:p>
        </p:txBody>
      </p:sp>
      <p:sp>
        <p:nvSpPr>
          <p:cNvPr id="4" name="code-card"/>
          <p:cNvSpPr/>
          <p:nvPr/>
        </p:nvSpPr>
        <p:spPr>
          <a:xfrm>
            <a:off x="548640" y="1508760"/>
            <a:ext cx="6949440" cy="2907284"/>
          </a:xfrm>
          <a:prstGeom prst="roundRect">
            <a:avLst>
              <a:gd name="adj" fmla="val 3774"/>
            </a:avLst>
          </a:prstGeom>
          <a:solidFill>
            <a:schemeClr val="bg2">
              <a:alpha val="88000"/>
            </a:schemeClr>
          </a:solidFill>
          <a:ln w="22225">
            <a:solidFill>
              <a:schemeClr val="accent3">
                <a:alpha val="90000"/>
              </a:schemeClr>
            </a:solidFill>
            <a:prstDash val="solid"/>
          </a:ln>
        </p:spPr>
      </p:sp>
      <p:sp>
        <p:nvSpPr>
          <p:cNvPr id="5" name="code"/>
          <p:cNvSpPr txBox="1"/>
          <p:nvPr/>
        </p:nvSpPr>
        <p:spPr>
          <a:xfrm>
            <a:off x="713232" y="1673352"/>
            <a:ext cx="6620256" cy="2578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gql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variables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400" dirty="0"/>
          </a:p>
          <a:p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fetch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URL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400" dirty="0"/>
          </a:p>
          <a:p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'POST'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400" dirty="0"/>
          </a:p>
          <a:p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headers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'Content-Type'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'application/json'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400" dirty="0"/>
          </a:p>
          <a:p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stringify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variables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400" dirty="0"/>
          </a:p>
          <a:p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  <a:p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  <a:p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errors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throw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errors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  <a:p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endParaRPr lang="en-US" sz="1400" dirty="0"/>
          </a:p>
          <a:p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6" name="card"/>
          <p:cNvSpPr/>
          <p:nvPr/>
        </p:nvSpPr>
        <p:spPr>
          <a:xfrm>
            <a:off x="7863840" y="1508760"/>
            <a:ext cx="3749040" cy="749808"/>
          </a:xfrm>
          <a:prstGeom prst="roundRect">
            <a:avLst>
              <a:gd name="adj" fmla="val 14634"/>
            </a:avLst>
          </a:prstGeom>
          <a:solidFill>
            <a:schemeClr val="bg2">
              <a:alpha val="88000"/>
            </a:schemeClr>
          </a:solidFill>
          <a:ln w="9525">
            <a:solidFill>
              <a:schemeClr val="tx2">
                <a:alpha val="35000"/>
              </a:schemeClr>
            </a:solidFill>
            <a:prstDash val="solid"/>
          </a:ln>
        </p:spPr>
      </p:sp>
      <p:sp>
        <p:nvSpPr>
          <p:cNvPr id="7" name="badge"/>
          <p:cNvSpPr/>
          <p:nvPr/>
        </p:nvSpPr>
        <p:spPr>
          <a:xfrm>
            <a:off x="8001000" y="1691640"/>
            <a:ext cx="365760" cy="365760"/>
          </a:xfrm>
          <a:prstGeom prst="ellipse">
            <a:avLst/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001000" y="1691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503920" y="158191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É só HTTP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503920" y="18745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fetch + POST. Nenhuma biblioteca obrigatória.</a:t>
            </a:r>
            <a:endParaRPr lang="en-US" sz="1200" dirty="0"/>
          </a:p>
        </p:txBody>
      </p:sp>
      <p:sp>
        <p:nvSpPr>
          <p:cNvPr id="11" name="card"/>
          <p:cNvSpPr/>
          <p:nvPr/>
        </p:nvSpPr>
        <p:spPr>
          <a:xfrm>
            <a:off x="7863840" y="2377440"/>
            <a:ext cx="3749040" cy="749808"/>
          </a:xfrm>
          <a:prstGeom prst="roundRect">
            <a:avLst>
              <a:gd name="adj" fmla="val 14634"/>
            </a:avLst>
          </a:prstGeom>
          <a:solidFill>
            <a:schemeClr val="bg2">
              <a:alpha val="88000"/>
            </a:schemeClr>
          </a:solidFill>
          <a:ln w="9525">
            <a:solidFill>
              <a:schemeClr val="tx2">
                <a:alpha val="35000"/>
              </a:schemeClr>
            </a:solidFill>
            <a:prstDash val="solid"/>
          </a:ln>
        </p:spPr>
      </p:sp>
      <p:sp>
        <p:nvSpPr>
          <p:cNvPr id="12" name="badge"/>
          <p:cNvSpPr/>
          <p:nvPr/>
        </p:nvSpPr>
        <p:spPr>
          <a:xfrm>
            <a:off x="8001000" y="2560320"/>
            <a:ext cx="365760" cy="365760"/>
          </a:xfrm>
          <a:prstGeom prst="ellipse">
            <a:avLst/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001000" y="2560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503920" y="245059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Sempre o mesmo URL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503920" y="27432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Um endpoint único: /v1/graphql.</a:t>
            </a:r>
            <a:endParaRPr lang="en-US" sz="1200" dirty="0"/>
          </a:p>
        </p:txBody>
      </p:sp>
      <p:sp>
        <p:nvSpPr>
          <p:cNvPr id="16" name="card"/>
          <p:cNvSpPr/>
          <p:nvPr/>
        </p:nvSpPr>
        <p:spPr>
          <a:xfrm>
            <a:off x="7863840" y="3246120"/>
            <a:ext cx="3749040" cy="749808"/>
          </a:xfrm>
          <a:prstGeom prst="roundRect">
            <a:avLst>
              <a:gd name="adj" fmla="val 14634"/>
            </a:avLst>
          </a:prstGeom>
          <a:solidFill>
            <a:schemeClr val="bg2">
              <a:alpha val="88000"/>
            </a:schemeClr>
          </a:solidFill>
          <a:ln w="9525">
            <a:solidFill>
              <a:schemeClr val="tx2">
                <a:alpha val="35000"/>
              </a:schemeClr>
            </a:solidFill>
            <a:prstDash val="solid"/>
          </a:ln>
        </p:spPr>
      </p:sp>
      <p:sp>
        <p:nvSpPr>
          <p:cNvPr id="17" name="badge"/>
          <p:cNvSpPr/>
          <p:nvPr/>
        </p:nvSpPr>
        <p:spPr>
          <a:xfrm>
            <a:off x="8001000" y="3429000"/>
            <a:ext cx="365760" cy="365760"/>
          </a:xfrm>
          <a:prstGeom prst="ellipse">
            <a:avLst/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001000" y="3429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8503920" y="331927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O corpo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8503920" y="36118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{ query, variables }: o pedido e seus valores.</a:t>
            </a:r>
            <a:endParaRPr lang="en-US" sz="1200" dirty="0"/>
          </a:p>
        </p:txBody>
      </p:sp>
      <p:sp>
        <p:nvSpPr>
          <p:cNvPr id="21" name="card"/>
          <p:cNvSpPr/>
          <p:nvPr/>
        </p:nvSpPr>
        <p:spPr>
          <a:xfrm>
            <a:off x="7863840" y="4114800"/>
            <a:ext cx="3749040" cy="749808"/>
          </a:xfrm>
          <a:prstGeom prst="roundRect">
            <a:avLst>
              <a:gd name="adj" fmla="val 14634"/>
            </a:avLst>
          </a:prstGeom>
          <a:solidFill>
            <a:schemeClr val="bg2">
              <a:alpha val="88000"/>
            </a:schemeClr>
          </a:solidFill>
          <a:ln w="9525">
            <a:solidFill>
              <a:schemeClr val="tx2">
                <a:alpha val="35000"/>
              </a:schemeClr>
            </a:solidFill>
            <a:prstDash val="solid"/>
          </a:ln>
        </p:spPr>
      </p:sp>
      <p:sp>
        <p:nvSpPr>
          <p:cNvPr id="22" name="badge"/>
          <p:cNvSpPr/>
          <p:nvPr/>
        </p:nvSpPr>
        <p:spPr>
          <a:xfrm>
            <a:off x="8001000" y="4297680"/>
            <a:ext cx="365760" cy="365760"/>
          </a:xfrm>
          <a:prstGeom prst="ellipse">
            <a:avLst/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001000" y="4297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8503920" y="41879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Erros em json.errors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8503920" y="44805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Mesmo com HTTP 200, confira este campo.</a:t>
            </a:r>
            <a:endParaRPr lang="en-US" sz="1200" dirty="0"/>
          </a:p>
        </p:txBody>
      </p:sp>
      <p:sp>
        <p:nvSpPr>
          <p:cNvPr id="26" name="card"/>
          <p:cNvSpPr/>
          <p:nvPr/>
        </p:nvSpPr>
        <p:spPr>
          <a:xfrm>
            <a:off x="7863840" y="4983480"/>
            <a:ext cx="3749040" cy="749808"/>
          </a:xfrm>
          <a:prstGeom prst="roundRect">
            <a:avLst>
              <a:gd name="adj" fmla="val 14634"/>
            </a:avLst>
          </a:prstGeom>
          <a:solidFill>
            <a:schemeClr val="bg2">
              <a:alpha val="88000"/>
            </a:schemeClr>
          </a:solidFill>
          <a:ln w="9525">
            <a:solidFill>
              <a:schemeClr val="tx2">
                <a:alpha val="35000"/>
              </a:schemeClr>
            </a:solidFill>
            <a:prstDash val="solid"/>
          </a:ln>
        </p:spPr>
      </p:sp>
      <p:sp>
        <p:nvSpPr>
          <p:cNvPr id="27" name="badge"/>
          <p:cNvSpPr/>
          <p:nvPr/>
        </p:nvSpPr>
        <p:spPr>
          <a:xfrm>
            <a:off x="8001000" y="5166360"/>
            <a:ext cx="365760" cy="365760"/>
          </a:xfrm>
          <a:prstGeom prst="ellipse">
            <a:avLst/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001000" y="5166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8503920" y="505663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Devolve json.data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8503920" y="53492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Exatamente o formato que você pediu.</a:t>
            </a:r>
            <a:endParaRPr lang="en-US" sz="1200" dirty="0"/>
          </a:p>
        </p:txBody>
      </p:sp>
      <p:sp>
        <p:nvSpPr>
          <p:cNvPr id="31" name="badge"/>
          <p:cNvSpPr/>
          <p:nvPr/>
        </p:nvSpPr>
        <p:spPr>
          <a:xfrm>
            <a:off x="7150608" y="1922907"/>
            <a:ext cx="274320" cy="274320"/>
          </a:xfrm>
          <a:prstGeom prst="ellipse">
            <a:avLst/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150608" y="1922907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33" name="badge"/>
          <p:cNvSpPr/>
          <p:nvPr/>
        </p:nvSpPr>
        <p:spPr>
          <a:xfrm>
            <a:off x="6784848" y="1922907"/>
            <a:ext cx="274320" cy="274320"/>
          </a:xfrm>
          <a:prstGeom prst="ellipse">
            <a:avLst/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784848" y="1922907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35" name="badge"/>
          <p:cNvSpPr/>
          <p:nvPr/>
        </p:nvSpPr>
        <p:spPr>
          <a:xfrm>
            <a:off x="7150608" y="2696337"/>
            <a:ext cx="274320" cy="274320"/>
          </a:xfrm>
          <a:prstGeom prst="ellipse">
            <a:avLst/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150608" y="2696337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37" name="badge"/>
          <p:cNvSpPr/>
          <p:nvPr/>
        </p:nvSpPr>
        <p:spPr>
          <a:xfrm>
            <a:off x="7150608" y="3469767"/>
            <a:ext cx="274320" cy="274320"/>
          </a:xfrm>
          <a:prstGeom prst="ellipse">
            <a:avLst/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150608" y="3469767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39" name="badge"/>
          <p:cNvSpPr/>
          <p:nvPr/>
        </p:nvSpPr>
        <p:spPr>
          <a:xfrm>
            <a:off x="7150608" y="3727577"/>
            <a:ext cx="274320" cy="274320"/>
          </a:xfrm>
          <a:prstGeom prst="ellipse">
            <a:avLst/>
          </a:prstGeom>
          <a:solidFill>
            <a:schemeClr val="accent3"/>
          </a:solidFill>
          <a:ln w="6350">
            <a:solidFill>
              <a:schemeClr val="accent3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150608" y="3727577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41" name="card"/>
          <p:cNvSpPr/>
          <p:nvPr/>
        </p:nvSpPr>
        <p:spPr>
          <a:xfrm>
            <a:off x="548640" y="4892040"/>
            <a:ext cx="6949440" cy="1234440"/>
          </a:xfrm>
          <a:prstGeom prst="roundRect">
            <a:avLst>
              <a:gd name="adj" fmla="val 8889"/>
            </a:avLst>
          </a:prstGeom>
          <a:solidFill>
            <a:schemeClr val="bg2">
              <a:alpha val="88000"/>
            </a:schemeClr>
          </a:solidFill>
          <a:ln w="22225">
            <a:solidFill>
              <a:schemeClr val="accent6">
                <a:alpha val="90000"/>
              </a:schemeClr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777240" y="4892040"/>
            <a:ext cx="6492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6"/>
                </a:solidFill>
              </a:rPr>
              <a:t>Dica: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Apollo e urql ajudam com cache e reatividade, mas por baixo é isso aqui. Entender essa base te protege de "mágica".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858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 txBox="1"/>
          <p:nvPr>
            <p:ph idx="101" type="title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Hasura traduz tudo para um SQL só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3"/>
                </a:solidFill>
              </a:rPr>
              <a:t>POR DENTRO DO HASURA</a:t>
            </a:r>
            <a:endParaRPr lang="en-US" sz="1200" dirty="0"/>
          </a:p>
        </p:txBody>
      </p:sp>
      <p:sp>
        <p:nvSpPr>
          <p:cNvPr id="4" name="code-card"/>
          <p:cNvSpPr/>
          <p:nvPr/>
        </p:nvSpPr>
        <p:spPr>
          <a:xfrm>
            <a:off x="548640" y="1508760"/>
            <a:ext cx="4754880" cy="2319528"/>
          </a:xfrm>
          <a:prstGeom prst="roundRect">
            <a:avLst>
              <a:gd name="adj" fmla="val 4731"/>
            </a:avLst>
          </a:prstGeom>
          <a:solidFill>
            <a:schemeClr val="bg2">
              <a:alpha val="88000"/>
            </a:schemeClr>
          </a:solidFill>
          <a:ln w="22225">
            <a:solidFill>
              <a:schemeClr val="accent2">
                <a:alpha val="90000"/>
              </a:scheme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13232" y="1581912"/>
            <a:ext cx="4425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tx2"/>
                </a:solidFill>
              </a:rPr>
              <a:t>GRAPHQL</a:t>
            </a:r>
            <a:endParaRPr lang="en-US" sz="1100" dirty="0"/>
          </a:p>
        </p:txBody>
      </p:sp>
      <p:sp>
        <p:nvSpPr>
          <p:cNvPr id="6" name="code"/>
          <p:cNvSpPr txBox="1"/>
          <p:nvPr/>
        </p:nvSpPr>
        <p:spPr>
          <a:xfrm>
            <a:off x="713232" y="2002536"/>
            <a:ext cx="4425696" cy="1661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180"/>
              </a:lnSpc>
              <a:buNone/>
            </a:pPr>
            <a:r>
              <a:rPr lang="en-US" sz="15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</a:t>
            </a:r>
            <a:pPr indent="0" marL="0">
              <a:lnSpc>
                <a:spcPts val="218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218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500" dirty="0"/>
          </a:p>
          <a:p>
            <a:pPr indent="0" marL="0">
              <a:lnSpc>
                <a:spcPts val="218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218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users_by_pk</a:t>
            </a:r>
            <a:pPr indent="0" marL="0">
              <a:lnSpc>
                <a:spcPts val="218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218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pPr indent="0" marL="0">
              <a:lnSpc>
                <a:spcPts val="218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218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2180"/>
              </a:lnSpc>
              <a:buNone/>
            </a:pPr>
            <a:r>
              <a:rPr lang="en-US" sz="15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lnSpc>
                <a:spcPts val="218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ts val="218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218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500" dirty="0"/>
          </a:p>
          <a:p>
            <a:pPr indent="0" marL="0">
              <a:lnSpc>
                <a:spcPts val="218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218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endParaRPr lang="en-US" sz="1500" dirty="0"/>
          </a:p>
          <a:p>
            <a:pPr indent="0" marL="0">
              <a:lnSpc>
                <a:spcPts val="218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218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posts</a:t>
            </a:r>
            <a:pPr indent="0" marL="0">
              <a:lnSpc>
                <a:spcPts val="218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218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ts val="218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218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title</a:t>
            </a:r>
            <a:pPr indent="0" marL="0">
              <a:lnSpc>
                <a:spcPts val="218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218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  <a:p>
            <a:pPr indent="0" marL="0">
              <a:lnSpc>
                <a:spcPts val="218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218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  <a:p>
            <a:pPr indent="0" marL="0">
              <a:lnSpc>
                <a:spcPts val="218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</p:txBody>
      </p:sp>
      <p:sp>
        <p:nvSpPr>
          <p:cNvPr id="7" name="arrow"/>
          <p:cNvSpPr/>
          <p:nvPr/>
        </p:nvSpPr>
        <p:spPr>
          <a:xfrm>
            <a:off x="5394960" y="2560320"/>
            <a:ext cx="548640" cy="0"/>
          </a:xfrm>
          <a:prstGeom prst="line">
            <a:avLst/>
          </a:prstGeom>
          <a:noFill/>
          <a:ln w="3810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8" name="code-card"/>
          <p:cNvSpPr/>
          <p:nvPr/>
        </p:nvSpPr>
        <p:spPr>
          <a:xfrm>
            <a:off x="6035040" y="1508760"/>
            <a:ext cx="5577840" cy="2463038"/>
          </a:xfrm>
          <a:prstGeom prst="roundRect">
            <a:avLst>
              <a:gd name="adj" fmla="val 4455"/>
            </a:avLst>
          </a:prstGeom>
          <a:solidFill>
            <a:schemeClr val="bg2">
              <a:alpha val="88000"/>
            </a:schemeClr>
          </a:solidFill>
          <a:ln w="22225">
            <a:solidFill>
              <a:schemeClr val="accent1">
                <a:alpha val="90000"/>
              </a:scheme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199632" y="1581912"/>
            <a:ext cx="5248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tx2"/>
                </a:solidFill>
              </a:rPr>
              <a:t>SQL (SIMPLIFICADO)</a:t>
            </a:r>
            <a:endParaRPr lang="en-US" sz="1100" dirty="0"/>
          </a:p>
        </p:txBody>
      </p:sp>
      <p:sp>
        <p:nvSpPr>
          <p:cNvPr id="10" name="code"/>
          <p:cNvSpPr txBox="1"/>
          <p:nvPr/>
        </p:nvSpPr>
        <p:spPr>
          <a:xfrm>
            <a:off x="6199632" y="2002536"/>
            <a:ext cx="5248656" cy="1804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json_build_object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400" dirty="0"/>
          </a:p>
          <a:p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'name'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400" dirty="0"/>
          </a:p>
          <a:p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'posts'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json_agg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title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  <a:p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posts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endParaRPr lang="en-US" sz="1400" dirty="0"/>
          </a:p>
          <a:p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user_id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  <a:p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400" dirty="0"/>
          </a:p>
          <a:p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users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card"/>
          <p:cNvSpPr/>
          <p:nvPr/>
        </p:nvSpPr>
        <p:spPr>
          <a:xfrm>
            <a:off x="548640" y="4160520"/>
            <a:ext cx="3566160" cy="1051560"/>
          </a:xfrm>
          <a:prstGeom prst="roundRect">
            <a:avLst>
              <a:gd name="adj" fmla="val 10435"/>
            </a:avLst>
          </a:prstGeom>
          <a:solidFill>
            <a:schemeClr val="bg2">
              <a:alpha val="88000"/>
            </a:schemeClr>
          </a:solidFill>
          <a:ln w="22225">
            <a:solidFill>
              <a:schemeClr val="accent2">
                <a:alpha val="90000"/>
              </a:scheme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4160520"/>
            <a:ext cx="914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2"/>
                </a:solidFill>
              </a:rPr>
              <a:t>1</a:t>
            </a:r>
            <a:endParaRPr lang="en-US" sz="5400" dirty="0"/>
          </a:p>
        </p:txBody>
      </p:sp>
      <p:sp>
        <p:nvSpPr>
          <p:cNvPr id="13" name="Text 11"/>
          <p:cNvSpPr txBox="1"/>
          <p:nvPr/>
        </p:nvSpPr>
        <p:spPr>
          <a:xfrm>
            <a:off x="1691640" y="4160520"/>
            <a:ext cx="2286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requisição HTTP</a:t>
            </a:r>
            <a:endParaRPr lang="en-US" sz="1700" dirty="0"/>
          </a:p>
        </p:txBody>
      </p:sp>
      <p:sp>
        <p:nvSpPr>
          <p:cNvPr id="14" name="card"/>
          <p:cNvSpPr/>
          <p:nvPr/>
        </p:nvSpPr>
        <p:spPr>
          <a:xfrm>
            <a:off x="4297680" y="4160520"/>
            <a:ext cx="3566160" cy="1051560"/>
          </a:xfrm>
          <a:prstGeom prst="roundRect">
            <a:avLst>
              <a:gd name="adj" fmla="val 10435"/>
            </a:avLst>
          </a:prstGeom>
          <a:solidFill>
            <a:schemeClr val="bg2">
              <a:alpha val="88000"/>
            </a:schemeClr>
          </a:solidFill>
          <a:ln w="22225">
            <a:solidFill>
              <a:schemeClr val="accent1">
                <a:alpha val="90000"/>
              </a:scheme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26280" y="4160520"/>
            <a:ext cx="914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1</a:t>
            </a:r>
            <a:endParaRPr lang="en-US" sz="5400" dirty="0"/>
          </a:p>
        </p:txBody>
      </p:sp>
      <p:sp>
        <p:nvSpPr>
          <p:cNvPr id="16" name="Text 14"/>
          <p:cNvSpPr txBox="1"/>
          <p:nvPr/>
        </p:nvSpPr>
        <p:spPr>
          <a:xfrm>
            <a:off x="5440680" y="4160520"/>
            <a:ext cx="2286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consulta SQL</a:t>
            </a:r>
            <a:endParaRPr lang="en-US" sz="1700" dirty="0"/>
          </a:p>
        </p:txBody>
      </p:sp>
      <p:sp>
        <p:nvSpPr>
          <p:cNvPr id="17" name="card"/>
          <p:cNvSpPr/>
          <p:nvPr/>
        </p:nvSpPr>
        <p:spPr>
          <a:xfrm>
            <a:off x="8046720" y="4160520"/>
            <a:ext cx="3566160" cy="1051560"/>
          </a:xfrm>
          <a:prstGeom prst="roundRect">
            <a:avLst>
              <a:gd name="adj" fmla="val 10435"/>
            </a:avLst>
          </a:prstGeom>
          <a:solidFill>
            <a:schemeClr val="bg2">
              <a:alpha val="88000"/>
            </a:schemeClr>
          </a:solidFill>
          <a:ln w="22225">
            <a:solidFill>
              <a:schemeClr val="accent4">
                <a:alpha val="90000"/>
              </a:scheme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75320" y="4160520"/>
            <a:ext cx="914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4"/>
                </a:solidFill>
              </a:rPr>
              <a:t>0</a:t>
            </a:r>
            <a:endParaRPr lang="en-US" sz="5400" dirty="0"/>
          </a:p>
        </p:txBody>
      </p:sp>
      <p:sp>
        <p:nvSpPr>
          <p:cNvPr id="19" name="Text 17"/>
          <p:cNvSpPr txBox="1"/>
          <p:nvPr/>
        </p:nvSpPr>
        <p:spPr>
          <a:xfrm>
            <a:off x="9189720" y="4160520"/>
            <a:ext cx="2286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viagens extras ao banco</a:t>
            </a:r>
            <a:endParaRPr lang="en-US" sz="1700" dirty="0"/>
          </a:p>
        </p:txBody>
      </p:sp>
      <p:sp>
        <p:nvSpPr>
          <p:cNvPr id="20" name="card"/>
          <p:cNvSpPr/>
          <p:nvPr/>
        </p:nvSpPr>
        <p:spPr>
          <a:xfrm>
            <a:off x="548640" y="5440680"/>
            <a:ext cx="11064240" cy="731520"/>
          </a:xfrm>
          <a:prstGeom prst="roundRect">
            <a:avLst>
              <a:gd name="adj" fmla="val 15000"/>
            </a:avLst>
          </a:prstGeom>
          <a:solidFill>
            <a:schemeClr val="bg2">
              <a:alpha val="88000"/>
            </a:schemeClr>
          </a:solidFill>
          <a:ln w="22225">
            <a:solidFill>
              <a:schemeClr val="accent3">
                <a:alpha val="90000"/>
              </a:scheme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7240" y="544068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Veja o SQL real: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Console → aba API → botão Analyze. Os relacionamentos viram JOIN LATERAL dentro da mesma consulta, sem N+1.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858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body" hasCustomPrompt="1"/>
          </p:nvPr>
        </p:nvSpPr>
        <p:spPr>
          <a:xfrm>
            <a:off x="731520" y="21031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400" kern="0" dirty="0">
                <a:solidFill>
                  <a:schemeClr val="accent2"/>
                </a:solidFill>
              </a:rPr>
              <a:t>PARTE 4</a:t>
            </a:r>
            <a:endParaRPr lang="en-US" sz="1600" dirty="0"/>
          </a:p>
        </p:txBody>
      </p:sp>
      <p:sp>
        <p:nvSpPr>
          <p:cNvPr id="3" name="Text 0"/>
          <p:cNvSpPr txBox="1"/>
          <p:nvPr>
            <p:ph idx="101" type="title" hasCustomPrompt="1"/>
          </p:nvPr>
        </p:nvSpPr>
        <p:spPr>
          <a:xfrm>
            <a:off x="731520" y="2514600"/>
            <a:ext cx="7498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tx1"/>
                </a:solidFill>
              </a:rPr>
              <a:t>Armadilhas</a:t>
            </a:r>
            <a:endParaRPr lang="en-US" sz="4800" dirty="0"/>
          </a:p>
        </p:txBody>
      </p:sp>
      <p:sp>
        <p:nvSpPr>
          <p:cNvPr id="4" name="Text 0"/>
          <p:cNvSpPr txBox="1"/>
          <p:nvPr>
            <p:ph idx="102" type="body" hasCustomPrompt="1"/>
          </p:nvPr>
        </p:nvSpPr>
        <p:spPr>
          <a:xfrm>
            <a:off x="731520" y="379476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Nem tudo são flores: o que costuma pegar júnior (e sênior)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863840" y="1280160"/>
            <a:ext cx="38404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b="1" dirty="0">
                <a:solidFill>
                  <a:schemeClr val="accent2">
                    <a:alpha val="18000"/>
                  </a:schemeClr>
                </a:solidFill>
              </a:rPr>
              <a:t>04</a:t>
            </a:r>
            <a:endParaRPr lang="en-US" sz="20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 txBox="1"/>
          <p:nvPr>
            <p:ph idx="101" type="title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Erro nem sempre é 404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5"/>
                </a:solidFill>
              </a:rPr>
              <a:t>ERROS EM GRAPHQL</a:t>
            </a:r>
            <a:endParaRPr lang="en-US" sz="1200" dirty="0"/>
          </a:p>
        </p:txBody>
      </p:sp>
      <p:sp>
        <p:nvSpPr>
          <p:cNvPr id="4" name="code-card"/>
          <p:cNvSpPr/>
          <p:nvPr/>
        </p:nvSpPr>
        <p:spPr>
          <a:xfrm>
            <a:off x="548640" y="1508760"/>
            <a:ext cx="5669280" cy="935228"/>
          </a:xfrm>
          <a:prstGeom prst="roundRect">
            <a:avLst>
              <a:gd name="adj" fmla="val 11733"/>
            </a:avLst>
          </a:prstGeom>
          <a:solidFill>
            <a:schemeClr val="bg2">
              <a:alpha val="88000"/>
            </a:schemeClr>
          </a:solidFill>
          <a:ln w="22225">
            <a:solidFill>
              <a:schemeClr val="accent5">
                <a:alpha val="90000"/>
              </a:scheme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13232" y="1581912"/>
            <a:ext cx="5340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tx2"/>
                </a:solidFill>
              </a:rPr>
              <a:t>QUERY COM UM ERRO DE DIGITAÇÃO</a:t>
            </a:r>
            <a:endParaRPr lang="en-US" sz="1100" dirty="0"/>
          </a:p>
        </p:txBody>
      </p:sp>
      <p:sp>
        <p:nvSpPr>
          <p:cNvPr id="6" name="code"/>
          <p:cNvSpPr txBox="1"/>
          <p:nvPr/>
        </p:nvSpPr>
        <p:spPr>
          <a:xfrm>
            <a:off x="713232" y="2002536"/>
            <a:ext cx="5340096" cy="276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18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ts val="218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218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users</a:t>
            </a:r>
            <a:pPr indent="0" marL="0">
              <a:lnSpc>
                <a:spcPts val="218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218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ts val="218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2180"/>
              </a:lnSpc>
              <a:buNone/>
            </a:pPr>
            <a:r>
              <a:rPr lang="en-US" sz="1500" b="1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</a:t>
            </a:r>
            <a:pPr indent="0" marL="0">
              <a:lnSpc>
                <a:spcPts val="218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218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lnSpc>
                <a:spcPts val="218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2180"/>
              </a:lnSpc>
              <a:buNone/>
            </a:pPr>
            <a:r>
              <a:rPr lang="en-US" sz="15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</p:txBody>
      </p:sp>
      <p:sp>
        <p:nvSpPr>
          <p:cNvPr id="7" name="code-card"/>
          <p:cNvSpPr/>
          <p:nvPr/>
        </p:nvSpPr>
        <p:spPr>
          <a:xfrm>
            <a:off x="548640" y="2788920"/>
            <a:ext cx="5669280" cy="2329688"/>
          </a:xfrm>
          <a:prstGeom prst="roundRect">
            <a:avLst>
              <a:gd name="adj" fmla="val 4710"/>
            </a:avLst>
          </a:prstGeom>
          <a:solidFill>
            <a:schemeClr val="bg2">
              <a:alpha val="88000"/>
            </a:schemeClr>
          </a:solidFill>
          <a:ln w="22225">
            <a:solidFill>
              <a:schemeClr val="accent5">
                <a:alpha val="90000"/>
              </a:scheme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13232" y="2862072"/>
            <a:ext cx="5340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tx2"/>
                </a:solidFill>
              </a:rPr>
              <a:t>RESPOSTA REAL DO HASURA</a:t>
            </a:r>
            <a:endParaRPr lang="en-US" sz="1100" dirty="0"/>
          </a:p>
        </p:txBody>
      </p:sp>
      <p:sp>
        <p:nvSpPr>
          <p:cNvPr id="9" name="code"/>
          <p:cNvSpPr txBox="1"/>
          <p:nvPr/>
        </p:nvSpPr>
        <p:spPr>
          <a:xfrm>
            <a:off x="713232" y="3282696"/>
            <a:ext cx="5340096" cy="1671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1880"/>
              </a:lnSpc>
              <a:buNone/>
            </a:pPr>
            <a:r>
              <a:rPr lang="en-US" sz="1300" b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HTTP/1.1 200 OK</a:t>
            </a:r>
            <a:endParaRPr lang="en-US" sz="1300" dirty="0"/>
          </a:p>
          <a:p>
            <a:pPr indent="0" marL="0">
              <a:lnSpc>
                <a:spcPts val="188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ts val="188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ts val="188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880"/>
              </a:lnSpc>
              <a:buNone/>
            </a:pPr>
            <a:r>
              <a:rPr lang="en-US" sz="13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"errors"</a:t>
            </a:r>
            <a:pPr indent="0" marL="0">
              <a:lnSpc>
                <a:spcPts val="188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88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88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lnSpc>
                <a:spcPts val="188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ts val="188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880"/>
              </a:lnSpc>
              <a:buNone/>
            </a:pPr>
            <a:r>
              <a:rPr lang="en-US" sz="13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"message"</a:t>
            </a:r>
            <a:pPr indent="0" marL="0">
              <a:lnSpc>
                <a:spcPts val="188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88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88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</a:t>
            </a:r>
            <a:pPr indent="0" marL="0">
              <a:lnSpc>
                <a:spcPts val="188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</a:t>
            </a:r>
            <a:pPr indent="0" marL="0">
              <a:lnSpc>
                <a:spcPts val="188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880"/>
              </a:lnSpc>
              <a:buNone/>
            </a:pPr>
            <a:r>
              <a:rPr lang="en-US" sz="13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'nome'</a:t>
            </a:r>
            <a:pPr indent="0" marL="0">
              <a:lnSpc>
                <a:spcPts val="188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88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pPr indent="0" marL="0">
              <a:lnSpc>
                <a:spcPts val="188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88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found</a:t>
            </a:r>
            <a:endParaRPr lang="en-US" sz="1300" dirty="0"/>
          </a:p>
          <a:p>
            <a:pPr indent="0" marL="0">
              <a:lnSpc>
                <a:spcPts val="188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</a:t>
            </a:r>
            <a:pPr indent="0" marL="0">
              <a:lnSpc>
                <a:spcPts val="188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lnSpc>
                <a:spcPts val="188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880"/>
              </a:lnSpc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pPr indent="0" marL="0">
              <a:lnSpc>
                <a:spcPts val="188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88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880"/>
              </a:lnSpc>
              <a:buNone/>
            </a:pPr>
            <a:r>
              <a:rPr lang="en-US" sz="13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'users'</a:t>
            </a:r>
            <a:pPr indent="0" marL="0">
              <a:lnSpc>
                <a:spcPts val="188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</a:t>
            </a:r>
            <a:pPr indent="0" marL="0">
              <a:lnSpc>
                <a:spcPts val="188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300" dirty="0"/>
          </a:p>
          <a:p>
            <a:pPr indent="0" marL="0">
              <a:lnSpc>
                <a:spcPts val="188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ts val="1880"/>
              </a:lnSpc>
              <a:buNone/>
            </a:pPr>
            <a:r>
              <a:rPr lang="en-US" sz="13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"extensions"</a:t>
            </a:r>
            <a:pPr indent="0" marL="0">
              <a:lnSpc>
                <a:spcPts val="188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88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88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ts val="188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ts val="1880"/>
              </a:lnSpc>
              <a:buNone/>
            </a:pPr>
            <a:r>
              <a:rPr lang="en-US" sz="13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"code"</a:t>
            </a:r>
            <a:pPr indent="0" marL="0">
              <a:lnSpc>
                <a:spcPts val="188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ts val="188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880"/>
              </a:lnSpc>
              <a:buNone/>
            </a:pPr>
            <a:r>
              <a:rPr lang="en-US" sz="13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"validation-failed"</a:t>
            </a:r>
            <a:pPr indent="0" marL="0">
              <a:lnSpc>
                <a:spcPts val="188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88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lnSpc>
                <a:spcPts val="188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88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lnSpc>
                <a:spcPts val="188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lnSpc>
                <a:spcPts val="188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ts val="188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0" name="card"/>
          <p:cNvSpPr/>
          <p:nvPr/>
        </p:nvSpPr>
        <p:spPr>
          <a:xfrm>
            <a:off x="6492240" y="1508760"/>
            <a:ext cx="5120640" cy="1170432"/>
          </a:xfrm>
          <a:prstGeom prst="roundRect">
            <a:avLst>
              <a:gd name="adj" fmla="val 9375"/>
            </a:avLst>
          </a:prstGeom>
          <a:solidFill>
            <a:schemeClr val="bg2">
              <a:alpha val="88000"/>
            </a:schemeClr>
          </a:solidFill>
          <a:ln w="22225">
            <a:solidFill>
              <a:schemeClr val="accent6">
                <a:alpha val="90000"/>
              </a:scheme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75120" y="161848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 'x' not found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675120" y="205740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Typo no nome do campo, ou a role não tem permissão.</a:t>
            </a:r>
            <a:endParaRPr lang="en-US" sz="1500" dirty="0"/>
          </a:p>
        </p:txBody>
      </p:sp>
      <p:sp>
        <p:nvSpPr>
          <p:cNvPr id="13" name="card"/>
          <p:cNvSpPr/>
          <p:nvPr/>
        </p:nvSpPr>
        <p:spPr>
          <a:xfrm>
            <a:off x="6492240" y="2788920"/>
            <a:ext cx="5120640" cy="1170432"/>
          </a:xfrm>
          <a:prstGeom prst="roundRect">
            <a:avLst>
              <a:gd name="adj" fmla="val 9375"/>
            </a:avLst>
          </a:prstGeom>
          <a:solidFill>
            <a:schemeClr val="bg2">
              <a:alpha val="88000"/>
            </a:schemeClr>
          </a:solidFill>
          <a:ln w="22225">
            <a:solidFill>
              <a:schemeClr val="accent6">
                <a:alpha val="90000"/>
              </a:scheme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675120" y="289864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non-nullable variable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675120" y="333756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Faltou passar uma variável obrigatória.</a:t>
            </a:r>
            <a:endParaRPr lang="en-US" sz="1500" dirty="0"/>
          </a:p>
        </p:txBody>
      </p:sp>
      <p:sp>
        <p:nvSpPr>
          <p:cNvPr id="16" name="card"/>
          <p:cNvSpPr/>
          <p:nvPr/>
        </p:nvSpPr>
        <p:spPr>
          <a:xfrm>
            <a:off x="6492240" y="4069080"/>
            <a:ext cx="5120640" cy="1170432"/>
          </a:xfrm>
          <a:prstGeom prst="roundRect">
            <a:avLst>
              <a:gd name="adj" fmla="val 9375"/>
            </a:avLst>
          </a:prstGeom>
          <a:solidFill>
            <a:schemeClr val="bg2">
              <a:alpha val="88000"/>
            </a:schemeClr>
          </a:solidFill>
          <a:ln w="22225">
            <a:solidFill>
              <a:schemeClr val="accent6">
                <a:alpha val="90000"/>
              </a:scheme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675120" y="417880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invalid input syntax for integer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675120" y="461772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Tipo errado: mandou "abc" onde era Int.</a:t>
            </a:r>
            <a:endParaRPr lang="en-US" sz="1500" dirty="0"/>
          </a:p>
        </p:txBody>
      </p:sp>
      <p:sp>
        <p:nvSpPr>
          <p:cNvPr id="19" name="card"/>
          <p:cNvSpPr/>
          <p:nvPr/>
        </p:nvSpPr>
        <p:spPr>
          <a:xfrm>
            <a:off x="548640" y="5486400"/>
            <a:ext cx="11064240" cy="685800"/>
          </a:xfrm>
          <a:prstGeom prst="roundRect">
            <a:avLst>
              <a:gd name="adj" fmla="val 16000"/>
            </a:avLst>
          </a:prstGeom>
          <a:solidFill>
            <a:schemeClr val="bg2">
              <a:alpha val="88000"/>
            </a:schemeClr>
          </a:solidFill>
          <a:ln w="22225">
            <a:solidFill>
              <a:schemeClr val="accent6">
                <a:alpha val="90000"/>
              </a:scheme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77240" y="548640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6"/>
                </a:solidFill>
              </a:rPr>
              <a:t>Regra de ouro: 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HTTP 200 não significa sucesso. Sempre confira o campo errors.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858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 txBox="1"/>
          <p:nvPr>
            <p:ph idx="101" type="title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O problema N+1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5"/>
                </a:solidFill>
              </a:rPr>
              <a:t>PERFORMANCE</a:t>
            </a:r>
            <a:endParaRPr lang="en-US" sz="1200" dirty="0"/>
          </a:p>
        </p:txBody>
      </p:sp>
      <p:sp>
        <p:nvSpPr>
          <p:cNvPr id="4" name="card"/>
          <p:cNvSpPr/>
          <p:nvPr/>
        </p:nvSpPr>
        <p:spPr>
          <a:xfrm>
            <a:off x="548640" y="1508760"/>
            <a:ext cx="5394960" cy="4023360"/>
          </a:xfrm>
          <a:prstGeom prst="roundRect">
            <a:avLst>
              <a:gd name="adj" fmla="val 2727"/>
            </a:avLst>
          </a:prstGeom>
          <a:solidFill>
            <a:schemeClr val="bg2">
              <a:alpha val="88000"/>
            </a:schemeClr>
          </a:solidFill>
          <a:ln w="22225">
            <a:solidFill>
              <a:schemeClr val="accent5">
                <a:alpha val="90000"/>
              </a:scheme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002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5"/>
                </a:solidFill>
              </a:rPr>
              <a:t>Resolvers ingênuos (servidor à mão)</a:t>
            </a:r>
            <a:endParaRPr lang="en-US" sz="1900" dirty="0"/>
          </a:p>
        </p:txBody>
      </p:sp>
      <p:sp>
        <p:nvSpPr>
          <p:cNvPr id="6" name="card"/>
          <p:cNvSpPr/>
          <p:nvPr/>
        </p:nvSpPr>
        <p:spPr>
          <a:xfrm>
            <a:off x="6245352" y="1508760"/>
            <a:ext cx="5394960" cy="4023360"/>
          </a:xfrm>
          <a:prstGeom prst="roundRect">
            <a:avLst>
              <a:gd name="adj" fmla="val 2727"/>
            </a:avLst>
          </a:prstGeom>
          <a:solidFill>
            <a:schemeClr val="bg2">
              <a:alpha val="88000"/>
            </a:schemeClr>
          </a:solidFill>
          <a:ln w="22225">
            <a:solidFill>
              <a:schemeClr val="accent4">
                <a:alpha val="90000"/>
              </a:scheme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19672" y="16002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4"/>
                </a:solidFill>
              </a:rPr>
              <a:t>Com batching (DataLoader) ou Hasura</a:t>
            </a:r>
            <a:endParaRPr lang="en-US" sz="1900" dirty="0"/>
          </a:p>
        </p:txBody>
      </p:sp>
      <p:pic>
        <p:nvPicPr>
          <p:cNvPr id="8" name="Image 0" descr="Leque de dez consultas contra um funil de uma consult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9" name="card"/>
          <p:cNvSpPr/>
          <p:nvPr/>
        </p:nvSpPr>
        <p:spPr>
          <a:xfrm>
            <a:off x="1874520" y="2103120"/>
            <a:ext cx="2743200" cy="548640"/>
          </a:xfrm>
          <a:prstGeom prst="roundRect">
            <a:avLst>
              <a:gd name="adj" fmla="val 20000"/>
            </a:avLst>
          </a:prstGeom>
          <a:solidFill>
            <a:schemeClr val="bg2">
              <a:alpha val="88000"/>
            </a:schemeClr>
          </a:solidFill>
          <a:ln w="22225">
            <a:solidFill>
              <a:schemeClr val="accent5">
                <a:alpha val="90000"/>
              </a:schemeClr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874520" y="21031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1 consulta: 10 usuários</a:t>
            </a:r>
            <a:endParaRPr lang="en-US" sz="1500" dirty="0"/>
          </a:p>
        </p:txBody>
      </p:sp>
      <p:sp>
        <p:nvSpPr>
          <p:cNvPr id="11" name="card"/>
          <p:cNvSpPr/>
          <p:nvPr/>
        </p:nvSpPr>
        <p:spPr>
          <a:xfrm>
            <a:off x="7571232" y="2103120"/>
            <a:ext cx="2743200" cy="548640"/>
          </a:xfrm>
          <a:prstGeom prst="roundRect">
            <a:avLst>
              <a:gd name="adj" fmla="val 20000"/>
            </a:avLst>
          </a:prstGeom>
          <a:solidFill>
            <a:schemeClr val="bg2">
              <a:alpha val="88000"/>
            </a:schemeClr>
          </a:solidFill>
          <a:ln w="22225">
            <a:solidFill>
              <a:schemeClr val="accent4">
                <a:alpha val="90000"/>
              </a:schemeClr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571232" y="21031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1 consulta: 10 usuários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" y="40690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+10 consultas: SELECT posts WHERE user_id = ?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6583680" y="35661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… WHERE user_id IN (1, 2, …, 10)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6583680" y="40690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accent4"/>
                </a:solidFill>
              </a:rPr>
              <a:t>+1 consulta para todos de uma vez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822960" y="461772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5"/>
                </a:solidFill>
              </a:rPr>
              <a:t>1 + 10 = 11 consultas</a:t>
            </a:r>
            <a:endParaRPr lang="en-US" sz="3000" dirty="0"/>
          </a:p>
        </p:txBody>
      </p:sp>
      <p:sp>
        <p:nvSpPr>
          <p:cNvPr id="17" name="Text 14"/>
          <p:cNvSpPr txBox="1"/>
          <p:nvPr/>
        </p:nvSpPr>
        <p:spPr>
          <a:xfrm>
            <a:off x="6519672" y="461772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4"/>
                </a:solidFill>
              </a:rPr>
              <a:t>1 + 1 = 2 consultas</a:t>
            </a:r>
            <a:endParaRPr lang="en-US" sz="3000" dirty="0"/>
          </a:p>
        </p:txBody>
      </p:sp>
      <p:sp>
        <p:nvSpPr>
          <p:cNvPr id="18" name="card"/>
          <p:cNvSpPr/>
          <p:nvPr/>
        </p:nvSpPr>
        <p:spPr>
          <a:xfrm>
            <a:off x="548640" y="5669280"/>
            <a:ext cx="11064240" cy="594360"/>
          </a:xfrm>
          <a:prstGeom prst="roundRect">
            <a:avLst>
              <a:gd name="adj" fmla="val 18462"/>
            </a:avLst>
          </a:prstGeom>
          <a:solidFill>
            <a:schemeClr val="bg2">
              <a:alpha val="88000"/>
            </a:schemeClr>
          </a:solidFill>
          <a:ln w="22225">
            <a:solidFill>
              <a:schemeClr val="accent6">
                <a:alpha val="90000"/>
              </a:schemeClr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77240" y="566928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No lab o Hasura gera 1 SQL só. Em servidores feitos à mão, use DataLoader (ou equivalente).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858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 txBox="1"/>
          <p:nvPr>
            <p:ph idx="101" type="title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Antes de ir para produção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5"/>
                </a:solidFill>
              </a:rPr>
              <a:t>QUATRO CUIDADOS</a:t>
            </a:r>
            <a:endParaRPr lang="en-US" sz="1200" dirty="0"/>
          </a:p>
        </p:txBody>
      </p:sp>
      <p:sp>
        <p:nvSpPr>
          <p:cNvPr id="4" name="card"/>
          <p:cNvSpPr/>
          <p:nvPr/>
        </p:nvSpPr>
        <p:spPr>
          <a:xfrm>
            <a:off x="548640" y="1554480"/>
            <a:ext cx="5440680" cy="2194560"/>
          </a:xfrm>
          <a:prstGeom prst="roundRect">
            <a:avLst>
              <a:gd name="adj" fmla="val 5000"/>
            </a:avLst>
          </a:prstGeom>
          <a:solidFill>
            <a:schemeClr val="bg2">
              <a:alpha val="88000"/>
            </a:schemeClr>
          </a:solidFill>
          <a:ln w="22225">
            <a:solidFill>
              <a:schemeClr val="accent1">
                <a:alpha val="90000"/>
              </a:schemeClr>
            </a:solidFill>
            <a:prstDash val="solid"/>
          </a:ln>
        </p:spPr>
      </p:sp>
      <p:sp>
        <p:nvSpPr>
          <p:cNvPr id="5" name="icon-bg"/>
          <p:cNvSpPr/>
          <p:nvPr/>
        </p:nvSpPr>
        <p:spPr>
          <a:xfrm>
            <a:off x="777240" y="1783080"/>
            <a:ext cx="777240" cy="777240"/>
          </a:xfrm>
          <a:prstGeom prst="ellipse">
            <a:avLst/>
          </a:prstGeom>
          <a:solidFill>
            <a:schemeClr val="accent1">
              <a:alpha val="20000"/>
            </a:schemeClr>
          </a:solidFill>
          <a:ln w="12700">
            <a:solidFill>
              <a:schemeClr val="accent1">
                <a:alpha val="60000"/>
              </a:schemeClr>
            </a:solidFill>
            <a:prstDash val="solid"/>
          </a:ln>
        </p:spPr>
      </p:sp>
      <p:pic>
        <p:nvPicPr>
          <p:cNvPr id="6" name="Image 0" descr="TachometerAlt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550" y="1977390"/>
            <a:ext cx="388620" cy="3886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737360" y="178308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Cache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65176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Toda chamada é POST no mesmo URL, então o cache HTTP/CDN não ajuda. Use cache no cliente (Apollo, urql) ou persisted queries.</a:t>
            </a:r>
            <a:endParaRPr lang="en-US" sz="1600" dirty="0"/>
          </a:p>
        </p:txBody>
      </p:sp>
      <p:sp>
        <p:nvSpPr>
          <p:cNvPr id="9" name="card"/>
          <p:cNvSpPr/>
          <p:nvPr/>
        </p:nvSpPr>
        <p:spPr>
          <a:xfrm>
            <a:off x="6172200" y="1554480"/>
            <a:ext cx="5440680" cy="2194560"/>
          </a:xfrm>
          <a:prstGeom prst="roundRect">
            <a:avLst>
              <a:gd name="adj" fmla="val 5000"/>
            </a:avLst>
          </a:prstGeom>
          <a:solidFill>
            <a:schemeClr val="bg2">
              <a:alpha val="88000"/>
            </a:schemeClr>
          </a:solidFill>
          <a:ln w="22225">
            <a:solidFill>
              <a:schemeClr val="accent5">
                <a:alpha val="90000"/>
              </a:schemeClr>
            </a:solidFill>
            <a:prstDash val="solid"/>
          </a:ln>
        </p:spPr>
      </p:sp>
      <p:sp>
        <p:nvSpPr>
          <p:cNvPr id="10" name="icon-bg"/>
          <p:cNvSpPr/>
          <p:nvPr/>
        </p:nvSpPr>
        <p:spPr>
          <a:xfrm>
            <a:off x="6400800" y="1783080"/>
            <a:ext cx="777240" cy="777240"/>
          </a:xfrm>
          <a:prstGeom prst="ellipse">
            <a:avLst/>
          </a:prstGeom>
          <a:solidFill>
            <a:schemeClr val="accent5">
              <a:alpha val="20000"/>
            </a:schemeClr>
          </a:solidFill>
          <a:ln w="12700">
            <a:solidFill>
              <a:schemeClr val="accent5">
                <a:alpha val="60000"/>
              </a:schemeClr>
            </a:solidFill>
            <a:prstDash val="solid"/>
          </a:ln>
        </p:spPr>
      </p:sp>
      <p:pic>
        <p:nvPicPr>
          <p:cNvPr id="11" name="Image 1" descr="Key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5110" y="1977390"/>
            <a:ext cx="388620" cy="3886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360920" y="178308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5"/>
                </a:solidFill>
              </a:rPr>
              <a:t>Permissões</a:t>
            </a:r>
            <a:endParaRPr lang="en-US" sz="2400" dirty="0"/>
          </a:p>
        </p:txBody>
      </p:sp>
      <p:sp>
        <p:nvSpPr>
          <p:cNvPr id="13" name="Text 9"/>
          <p:cNvSpPr txBox="1"/>
          <p:nvPr/>
        </p:nvSpPr>
        <p:spPr>
          <a:xfrm>
            <a:off x="6446520" y="265176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No lab a role public pode TUDO, até apagar. Em produção: roles por usuário, filtros por linha e nunca coloque o admin secret no front.</a:t>
            </a:r>
            <a:endParaRPr lang="en-US" sz="1600" dirty="0"/>
          </a:p>
        </p:txBody>
      </p:sp>
      <p:sp>
        <p:nvSpPr>
          <p:cNvPr id="14" name="card"/>
          <p:cNvSpPr/>
          <p:nvPr/>
        </p:nvSpPr>
        <p:spPr>
          <a:xfrm>
            <a:off x="548640" y="3931920"/>
            <a:ext cx="5440680" cy="2194560"/>
          </a:xfrm>
          <a:prstGeom prst="roundRect">
            <a:avLst>
              <a:gd name="adj" fmla="val 5000"/>
            </a:avLst>
          </a:prstGeom>
          <a:solidFill>
            <a:schemeClr val="bg2">
              <a:alpha val="88000"/>
            </a:schemeClr>
          </a:solidFill>
          <a:ln w="22225">
            <a:solidFill>
              <a:schemeClr val="accent6">
                <a:alpha val="90000"/>
              </a:schemeClr>
            </a:solidFill>
            <a:prstDash val="solid"/>
          </a:ln>
        </p:spPr>
      </p:sp>
      <p:sp>
        <p:nvSpPr>
          <p:cNvPr id="15" name="icon-bg"/>
          <p:cNvSpPr/>
          <p:nvPr/>
        </p:nvSpPr>
        <p:spPr>
          <a:xfrm>
            <a:off x="777240" y="4160520"/>
            <a:ext cx="777240" cy="777240"/>
          </a:xfrm>
          <a:prstGeom prst="ellipse">
            <a:avLst/>
          </a:prstGeom>
          <a:solidFill>
            <a:schemeClr val="accent6">
              <a:alpha val="20000"/>
            </a:schemeClr>
          </a:solidFill>
          <a:ln w="12700">
            <a:solidFill>
              <a:schemeClr val="accent6">
                <a:alpha val="60000"/>
              </a:schemeClr>
            </a:solidFill>
            <a:prstDash val="solid"/>
          </a:ln>
        </p:spPr>
      </p:sp>
      <p:pic>
        <p:nvPicPr>
          <p:cNvPr id="16" name="Image 2" descr="Sitemap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" y="4354830"/>
            <a:ext cx="388620" cy="38862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737360" y="416052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6"/>
                </a:solidFill>
              </a:rPr>
              <a:t>Consultas gigantes</a:t>
            </a:r>
            <a:endParaRPr lang="en-US" sz="2400" dirty="0"/>
          </a:p>
        </p:txBody>
      </p:sp>
      <p:sp>
        <p:nvSpPr>
          <p:cNvPr id="18" name="Text 13"/>
          <p:cNvSpPr txBox="1"/>
          <p:nvPr/>
        </p:nvSpPr>
        <p:spPr>
          <a:xfrm>
            <a:off x="822960" y="502920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 cliente pode aninhar user → posts → comments → user → posts… Defina limit, profundidade máxima e allow-list.</a:t>
            </a:r>
            <a:endParaRPr lang="en-US" sz="1600" dirty="0"/>
          </a:p>
        </p:txBody>
      </p:sp>
      <p:sp>
        <p:nvSpPr>
          <p:cNvPr id="19" name="card"/>
          <p:cNvSpPr/>
          <p:nvPr/>
        </p:nvSpPr>
        <p:spPr>
          <a:xfrm>
            <a:off x="6172200" y="3931920"/>
            <a:ext cx="5440680" cy="2194560"/>
          </a:xfrm>
          <a:prstGeom prst="roundRect">
            <a:avLst>
              <a:gd name="adj" fmla="val 5000"/>
            </a:avLst>
          </a:prstGeom>
          <a:solidFill>
            <a:schemeClr val="bg2">
              <a:alpha val="88000"/>
            </a:schemeClr>
          </a:solidFill>
          <a:ln w="22225">
            <a:solidFill>
              <a:schemeClr val="accent4">
                <a:alpha val="90000"/>
              </a:schemeClr>
            </a:solidFill>
            <a:prstDash val="solid"/>
          </a:ln>
        </p:spPr>
      </p:sp>
      <p:sp>
        <p:nvSpPr>
          <p:cNvPr id="20" name="icon-bg"/>
          <p:cNvSpPr/>
          <p:nvPr/>
        </p:nvSpPr>
        <p:spPr>
          <a:xfrm>
            <a:off x="6400800" y="4160520"/>
            <a:ext cx="777240" cy="777240"/>
          </a:xfrm>
          <a:prstGeom prst="ellipse">
            <a:avLst/>
          </a:prstGeom>
          <a:solidFill>
            <a:schemeClr val="accent4">
              <a:alpha val="20000"/>
            </a:schemeClr>
          </a:solidFill>
          <a:ln w="12700">
            <a:solidFill>
              <a:schemeClr val="accent4">
                <a:alpha val="60000"/>
              </a:schemeClr>
            </a:solidFill>
            <a:prstDash val="solid"/>
          </a:ln>
        </p:spPr>
      </p:sp>
      <p:pic>
        <p:nvPicPr>
          <p:cNvPr id="21" name="Image 3" descr="History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5110" y="4354830"/>
            <a:ext cx="388620" cy="38862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360920" y="416052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4"/>
                </a:solidFill>
              </a:rPr>
              <a:t>Evolução sem v2</a:t>
            </a:r>
            <a:endParaRPr lang="en-US" sz="2400" dirty="0"/>
          </a:p>
        </p:txBody>
      </p:sp>
      <p:sp>
        <p:nvSpPr>
          <p:cNvPr id="23" name="Text 17"/>
          <p:cNvSpPr txBox="1"/>
          <p:nvPr/>
        </p:nvSpPr>
        <p:spPr>
          <a:xfrm>
            <a:off x="6446520" y="502920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Campo antigo? Marque @deprecated, acompanhe o uso até zerar e só então remova. Sem quebrar clientes.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858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body" hasCustomPrompt="1"/>
          </p:nvPr>
        </p:nvSpPr>
        <p:spPr>
          <a:xfrm>
            <a:off x="731520" y="21031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400" kern="0" dirty="0">
                <a:solidFill>
                  <a:schemeClr val="accent2"/>
                </a:solidFill>
              </a:rPr>
              <a:t>PARTE 5</a:t>
            </a:r>
            <a:endParaRPr lang="en-US" sz="1600" dirty="0"/>
          </a:p>
        </p:txBody>
      </p:sp>
      <p:sp>
        <p:nvSpPr>
          <p:cNvPr id="3" name="Text 0"/>
          <p:cNvSpPr txBox="1"/>
          <p:nvPr>
            <p:ph idx="101" type="title" hasCustomPrompt="1"/>
          </p:nvPr>
        </p:nvSpPr>
        <p:spPr>
          <a:xfrm>
            <a:off x="731520" y="2514600"/>
            <a:ext cx="7498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tx1"/>
                </a:solidFill>
              </a:rPr>
              <a:t>Decidir e praticar</a:t>
            </a:r>
            <a:endParaRPr lang="en-US" sz="4800" dirty="0"/>
          </a:p>
        </p:txBody>
      </p:sp>
      <p:sp>
        <p:nvSpPr>
          <p:cNvPr id="4" name="Text 0"/>
          <p:cNvSpPr txBox="1"/>
          <p:nvPr>
            <p:ph idx="102" type="body" hasCustomPrompt="1"/>
          </p:nvPr>
        </p:nvSpPr>
        <p:spPr>
          <a:xfrm>
            <a:off x="731520" y="379476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Quando usar cada um, e muita mão na massa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863840" y="1280160"/>
            <a:ext cx="38404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b="1" dirty="0">
                <a:solidFill>
                  <a:schemeClr val="accent2">
                    <a:alpha val="18000"/>
                  </a:schemeClr>
                </a:solidFill>
              </a:rPr>
              <a:t>05</a:t>
            </a:r>
            <a:endParaRPr lang="en-US" sz="20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 txBox="1"/>
          <p:nvPr>
            <p:ph idx="101" type="title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REST x GraphQL em uma tabela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DIAGNÓSTICO RÁPIDO</a:t>
            </a:r>
            <a:endParaRPr lang="en-US" sz="12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160520"/>
                <a:gridCol w="416052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</a:rPr>
                        <a:t>Dimensão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1"/>
                          </a:solidFill>
                        </a:rPr>
                        <a:t>REST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2"/>
                          </a:solidFill>
                        </a:rPr>
                        <a:t>GraphQL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Endpoints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Vários URLs (/users, /posts…)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Um só (/v1/graphql)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Formato da resposta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Definido pelo servidor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Definido por quem pede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Viagens para o perfil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Várias (5 para o Noah)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Uma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Curva de aprendizado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Baixa: todo mundo conhece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Maior: schema, tipos, resolvers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Cache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HTTP/CDN de graça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Precisa de ferramenta extra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Erros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Status HTTP (404, 500…)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HTTP 200 + campo errors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Evolução da API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/v1, /v2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@deprecated campo a campo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858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 txBox="1"/>
          <p:nvPr>
            <p:ph idx="101" type="title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Quando escolher cada um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SEM TORCIDA</a:t>
            </a:r>
            <a:endParaRPr lang="en-US" sz="1200" dirty="0"/>
          </a:p>
        </p:txBody>
      </p:sp>
      <p:sp>
        <p:nvSpPr>
          <p:cNvPr id="4" name="card"/>
          <p:cNvSpPr/>
          <p:nvPr/>
        </p:nvSpPr>
        <p:spPr>
          <a:xfrm>
            <a:off x="548640" y="1508760"/>
            <a:ext cx="5413248" cy="3977640"/>
          </a:xfrm>
          <a:prstGeom prst="roundRect">
            <a:avLst>
              <a:gd name="adj" fmla="val 2759"/>
            </a:avLst>
          </a:prstGeom>
          <a:solidFill>
            <a:schemeClr val="bg2">
              <a:alpha val="88000"/>
            </a:schemeClr>
          </a:solidFill>
          <a:ln w="22225">
            <a:solidFill>
              <a:schemeClr val="accent1">
                <a:alpha val="90000"/>
              </a:scheme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002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Escolha REST quando…</a:t>
            </a:r>
            <a:endParaRPr lang="en-US" sz="2000" dirty="0"/>
          </a:p>
        </p:txBody>
      </p:sp>
      <p:sp>
        <p:nvSpPr>
          <p:cNvPr id="6" name="card"/>
          <p:cNvSpPr/>
          <p:nvPr/>
        </p:nvSpPr>
        <p:spPr>
          <a:xfrm>
            <a:off x="777240" y="2103120"/>
            <a:ext cx="4956048" cy="713232"/>
          </a:xfrm>
          <a:prstGeom prst="roundRect">
            <a:avLst>
              <a:gd name="adj" fmla="val 15385"/>
            </a:avLst>
          </a:prstGeom>
          <a:solidFill>
            <a:schemeClr val="bg2">
              <a:alpha val="88000"/>
            </a:schemeClr>
          </a:solidFill>
          <a:ln w="9525">
            <a:solidFill>
              <a:schemeClr val="tx2">
                <a:alpha val="35000"/>
              </a:scheme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2103120"/>
            <a:ext cx="4617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API pública para terceiros, simples de documentar e testar</a:t>
            </a:r>
            <a:endParaRPr lang="en-US" sz="1400" dirty="0"/>
          </a:p>
        </p:txBody>
      </p:sp>
      <p:sp>
        <p:nvSpPr>
          <p:cNvPr id="8" name="card"/>
          <p:cNvSpPr/>
          <p:nvPr/>
        </p:nvSpPr>
        <p:spPr>
          <a:xfrm>
            <a:off x="777240" y="2926080"/>
            <a:ext cx="4956048" cy="713232"/>
          </a:xfrm>
          <a:prstGeom prst="roundRect">
            <a:avLst>
              <a:gd name="adj" fmla="val 15385"/>
            </a:avLst>
          </a:prstGeom>
          <a:solidFill>
            <a:schemeClr val="bg2">
              <a:alpha val="88000"/>
            </a:schemeClr>
          </a:solidFill>
          <a:ln w="9525">
            <a:solidFill>
              <a:schemeClr val="tx2">
                <a:alpha val="35000"/>
              </a:scheme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60120" y="2926080"/>
            <a:ext cx="4617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Upload, download de arquivo, streaming e webhooks</a:t>
            </a:r>
            <a:endParaRPr lang="en-US" sz="1400" dirty="0"/>
          </a:p>
        </p:txBody>
      </p:sp>
      <p:sp>
        <p:nvSpPr>
          <p:cNvPr id="10" name="card"/>
          <p:cNvSpPr/>
          <p:nvPr/>
        </p:nvSpPr>
        <p:spPr>
          <a:xfrm>
            <a:off x="777240" y="3749040"/>
            <a:ext cx="4956048" cy="713232"/>
          </a:xfrm>
          <a:prstGeom prst="roundRect">
            <a:avLst>
              <a:gd name="adj" fmla="val 15385"/>
            </a:avLst>
          </a:prstGeom>
          <a:solidFill>
            <a:schemeClr val="bg2">
              <a:alpha val="88000"/>
            </a:schemeClr>
          </a:solidFill>
          <a:ln w="9525">
            <a:solidFill>
              <a:schemeClr val="tx2">
                <a:alpha val="35000"/>
              </a:scheme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4617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Leitura em massa com cache de CDN (ex.: site de notícias)</a:t>
            </a:r>
            <a:endParaRPr lang="en-US" sz="1400" dirty="0"/>
          </a:p>
        </p:txBody>
      </p:sp>
      <p:sp>
        <p:nvSpPr>
          <p:cNvPr id="12" name="card"/>
          <p:cNvSpPr/>
          <p:nvPr/>
        </p:nvSpPr>
        <p:spPr>
          <a:xfrm>
            <a:off x="777240" y="4572000"/>
            <a:ext cx="4956048" cy="713232"/>
          </a:xfrm>
          <a:prstGeom prst="roundRect">
            <a:avLst>
              <a:gd name="adj" fmla="val 15385"/>
            </a:avLst>
          </a:prstGeom>
          <a:solidFill>
            <a:schemeClr val="bg2">
              <a:alpha val="88000"/>
            </a:schemeClr>
          </a:solidFill>
          <a:ln w="9525">
            <a:solidFill>
              <a:schemeClr val="tx2">
                <a:alpha val="35000"/>
              </a:scheme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60120" y="4572000"/>
            <a:ext cx="4617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Serviço pequeno chamando outro serviço (backend para backend)</a:t>
            </a:r>
            <a:endParaRPr lang="en-US" sz="1400" dirty="0"/>
          </a:p>
        </p:txBody>
      </p:sp>
      <p:sp>
        <p:nvSpPr>
          <p:cNvPr id="14" name="card"/>
          <p:cNvSpPr/>
          <p:nvPr/>
        </p:nvSpPr>
        <p:spPr>
          <a:xfrm>
            <a:off x="6199632" y="1508760"/>
            <a:ext cx="5413248" cy="3977640"/>
          </a:xfrm>
          <a:prstGeom prst="roundRect">
            <a:avLst>
              <a:gd name="adj" fmla="val 2759"/>
            </a:avLst>
          </a:prstGeom>
          <a:solidFill>
            <a:schemeClr val="bg2">
              <a:alpha val="88000"/>
            </a:schemeClr>
          </a:solidFill>
          <a:ln w="22225">
            <a:solidFill>
              <a:schemeClr val="accent2">
                <a:alpha val="90000"/>
              </a:scheme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73952" y="16002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Escolha GraphQL quando…</a:t>
            </a:r>
            <a:endParaRPr lang="en-US" sz="2000" dirty="0"/>
          </a:p>
        </p:txBody>
      </p:sp>
      <p:sp>
        <p:nvSpPr>
          <p:cNvPr id="16" name="card"/>
          <p:cNvSpPr/>
          <p:nvPr/>
        </p:nvSpPr>
        <p:spPr>
          <a:xfrm>
            <a:off x="6428232" y="2103120"/>
            <a:ext cx="4956048" cy="713232"/>
          </a:xfrm>
          <a:prstGeom prst="roundRect">
            <a:avLst>
              <a:gd name="adj" fmla="val 15385"/>
            </a:avLst>
          </a:prstGeom>
          <a:solidFill>
            <a:schemeClr val="bg2">
              <a:alpha val="88000"/>
            </a:schemeClr>
          </a:solidFill>
          <a:ln w="9525">
            <a:solidFill>
              <a:schemeClr val="tx2">
                <a:alpha val="35000"/>
              </a:scheme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611112" y="2103120"/>
            <a:ext cx="4617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Telas que juntam várias tabelas, como o perfil do lab</a:t>
            </a:r>
            <a:endParaRPr lang="en-US" sz="1400" dirty="0"/>
          </a:p>
        </p:txBody>
      </p:sp>
      <p:sp>
        <p:nvSpPr>
          <p:cNvPr id="18" name="card"/>
          <p:cNvSpPr/>
          <p:nvPr/>
        </p:nvSpPr>
        <p:spPr>
          <a:xfrm>
            <a:off x="6428232" y="2926080"/>
            <a:ext cx="4956048" cy="713232"/>
          </a:xfrm>
          <a:prstGeom prst="roundRect">
            <a:avLst>
              <a:gd name="adj" fmla="val 15385"/>
            </a:avLst>
          </a:prstGeom>
          <a:solidFill>
            <a:schemeClr val="bg2">
              <a:alpha val="88000"/>
            </a:schemeClr>
          </a:solidFill>
          <a:ln w="9525">
            <a:solidFill>
              <a:schemeClr val="tx2">
                <a:alpha val="35000"/>
              </a:scheme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611112" y="2926080"/>
            <a:ext cx="4617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Vários clientes (web, iOS, Android) com necessidades diferentes</a:t>
            </a:r>
            <a:endParaRPr lang="en-US" sz="1400" dirty="0"/>
          </a:p>
        </p:txBody>
      </p:sp>
      <p:sp>
        <p:nvSpPr>
          <p:cNvPr id="20" name="card"/>
          <p:cNvSpPr/>
          <p:nvPr/>
        </p:nvSpPr>
        <p:spPr>
          <a:xfrm>
            <a:off x="6428232" y="3749040"/>
            <a:ext cx="4956048" cy="713232"/>
          </a:xfrm>
          <a:prstGeom prst="roundRect">
            <a:avLst>
              <a:gd name="adj" fmla="val 15385"/>
            </a:avLst>
          </a:prstGeom>
          <a:solidFill>
            <a:schemeClr val="bg2">
              <a:alpha val="88000"/>
            </a:schemeClr>
          </a:solidFill>
          <a:ln w="9525">
            <a:solidFill>
              <a:schemeClr val="tx2">
                <a:alpha val="35000"/>
              </a:scheme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611112" y="3749040"/>
            <a:ext cx="4617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Internet móvel ruim: menos dados, tela mais rápida</a:t>
            </a:r>
            <a:endParaRPr lang="en-US" sz="1400" dirty="0"/>
          </a:p>
        </p:txBody>
      </p:sp>
      <p:sp>
        <p:nvSpPr>
          <p:cNvPr id="22" name="card"/>
          <p:cNvSpPr/>
          <p:nvPr/>
        </p:nvSpPr>
        <p:spPr>
          <a:xfrm>
            <a:off x="6428232" y="4572000"/>
            <a:ext cx="4956048" cy="713232"/>
          </a:xfrm>
          <a:prstGeom prst="roundRect">
            <a:avLst>
              <a:gd name="adj" fmla="val 15385"/>
            </a:avLst>
          </a:prstGeom>
          <a:solidFill>
            <a:schemeClr val="bg2">
              <a:alpha val="88000"/>
            </a:schemeClr>
          </a:solidFill>
          <a:ln w="9525">
            <a:solidFill>
              <a:schemeClr val="tx2">
                <a:alpha val="35000"/>
              </a:scheme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611112" y="4572000"/>
            <a:ext cx="4617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Front e back em paralelo, com o schema como contrato</a:t>
            </a:r>
            <a:endParaRPr lang="en-US" sz="1400" dirty="0"/>
          </a:p>
        </p:txBody>
      </p:sp>
      <p:sp>
        <p:nvSpPr>
          <p:cNvPr id="24" name="card"/>
          <p:cNvSpPr/>
          <p:nvPr/>
        </p:nvSpPr>
        <p:spPr>
          <a:xfrm>
            <a:off x="548640" y="5669280"/>
            <a:ext cx="11064240" cy="548640"/>
          </a:xfrm>
          <a:prstGeom prst="roundRect">
            <a:avLst>
              <a:gd name="adj" fmla="val 20000"/>
            </a:avLst>
          </a:prstGeom>
          <a:solidFill>
            <a:schemeClr val="bg2">
              <a:alpha val="88000"/>
            </a:schemeClr>
          </a:solidFill>
          <a:ln w="22225">
            <a:solidFill>
              <a:schemeClr val="accent6">
                <a:alpha val="90000"/>
              </a:scheme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77240" y="56692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Não precisa escolher um só: muitas empresas usam GraphQL na frente (BFF) e REST por trás.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858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 txBox="1"/>
          <p:nvPr>
            <p:ph idx="101" type="title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Mão na massa: 5 desafios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4"/>
                </a:solidFill>
              </a:rPr>
              <a:t>NO SEU LAB</a:t>
            </a:r>
            <a:endParaRPr lang="en-US" sz="1200" dirty="0"/>
          </a:p>
        </p:txBody>
      </p:sp>
      <p:sp>
        <p:nvSpPr>
          <p:cNvPr id="4" name="card"/>
          <p:cNvSpPr/>
          <p:nvPr/>
        </p:nvSpPr>
        <p:spPr>
          <a:xfrm>
            <a:off x="548640" y="1508760"/>
            <a:ext cx="11064240" cy="749808"/>
          </a:xfrm>
          <a:prstGeom prst="roundRect">
            <a:avLst>
              <a:gd name="adj" fmla="val 14634"/>
            </a:avLst>
          </a:prstGeom>
          <a:solidFill>
            <a:schemeClr val="bg2">
              <a:alpha val="88000"/>
            </a:schemeClr>
          </a:solidFill>
          <a:ln w="9525">
            <a:solidFill>
              <a:schemeClr val="tx2">
                <a:alpha val="35000"/>
              </a:scheme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508760"/>
            <a:ext cx="1005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6"/>
                </a:solidFill>
              </a:rPr>
              <a:t>★☆☆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828800" y="1508760"/>
            <a:ext cx="5852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Liste o name dos 5 primeiros usuários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772400" y="1508760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dica: limit</a:t>
            </a:r>
            <a:endParaRPr lang="en-US" sz="1300" dirty="0"/>
          </a:p>
        </p:txBody>
      </p:sp>
      <p:sp>
        <p:nvSpPr>
          <p:cNvPr id="8" name="card"/>
          <p:cNvSpPr/>
          <p:nvPr/>
        </p:nvSpPr>
        <p:spPr>
          <a:xfrm>
            <a:off x="548640" y="2359152"/>
            <a:ext cx="11064240" cy="749808"/>
          </a:xfrm>
          <a:prstGeom prst="roundRect">
            <a:avLst>
              <a:gd name="adj" fmla="val 14634"/>
            </a:avLst>
          </a:prstGeom>
          <a:solidFill>
            <a:schemeClr val="bg2">
              <a:alpha val="88000"/>
            </a:schemeClr>
          </a:solidFill>
          <a:ln w="9525">
            <a:solidFill>
              <a:schemeClr val="tx2">
                <a:alpha val="35000"/>
              </a:scheme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2359152"/>
            <a:ext cx="1005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6"/>
                </a:solidFill>
              </a:rPr>
              <a:t>★☆☆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1828800" y="2359152"/>
            <a:ext cx="5852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Traga o usuário de id 7 com o title dos posts dele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772400" y="2359152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dica: users_by_pk + posts</a:t>
            </a:r>
            <a:endParaRPr lang="en-US" sz="1300" dirty="0"/>
          </a:p>
        </p:txBody>
      </p:sp>
      <p:sp>
        <p:nvSpPr>
          <p:cNvPr id="12" name="card"/>
          <p:cNvSpPr/>
          <p:nvPr/>
        </p:nvSpPr>
        <p:spPr>
          <a:xfrm>
            <a:off x="548640" y="3209544"/>
            <a:ext cx="11064240" cy="749808"/>
          </a:xfrm>
          <a:prstGeom prst="roundRect">
            <a:avLst>
              <a:gd name="adj" fmla="val 14634"/>
            </a:avLst>
          </a:prstGeom>
          <a:solidFill>
            <a:schemeClr val="bg2">
              <a:alpha val="88000"/>
            </a:schemeClr>
          </a:solidFill>
          <a:ln w="9525">
            <a:solidFill>
              <a:schemeClr val="tx2">
                <a:alpha val="35000"/>
              </a:scheme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3209544"/>
            <a:ext cx="1005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6"/>
                </a:solidFill>
              </a:rPr>
              <a:t>★★☆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1828800" y="3209544"/>
            <a:ext cx="5852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Os 3 usuários com mais posts, com o total de cada um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0" y="3209544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dica: order_by + posts_aggregate</a:t>
            </a:r>
            <a:endParaRPr lang="en-US" sz="1300" dirty="0"/>
          </a:p>
        </p:txBody>
      </p:sp>
      <p:sp>
        <p:nvSpPr>
          <p:cNvPr id="16" name="card"/>
          <p:cNvSpPr/>
          <p:nvPr/>
        </p:nvSpPr>
        <p:spPr>
          <a:xfrm>
            <a:off x="548640" y="4059936"/>
            <a:ext cx="11064240" cy="749808"/>
          </a:xfrm>
          <a:prstGeom prst="roundRect">
            <a:avLst>
              <a:gd name="adj" fmla="val 14634"/>
            </a:avLst>
          </a:prstGeom>
          <a:solidFill>
            <a:schemeClr val="bg2">
              <a:alpha val="88000"/>
            </a:schemeClr>
          </a:solidFill>
          <a:ln w="9525">
            <a:solidFill>
              <a:schemeClr val="tx2">
                <a:alpha val="35000"/>
              </a:scheme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4059936"/>
            <a:ext cx="1005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6"/>
                </a:solidFill>
              </a:rPr>
              <a:t>★★☆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1828800" y="4059936"/>
            <a:ext cx="5852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Crie um post com mutation e veja-o aparecer no Vue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0" y="4059936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dica: insert_posts_one</a:t>
            </a:r>
            <a:endParaRPr lang="en-US" sz="1300" dirty="0"/>
          </a:p>
        </p:txBody>
      </p:sp>
      <p:sp>
        <p:nvSpPr>
          <p:cNvPr id="20" name="card"/>
          <p:cNvSpPr/>
          <p:nvPr/>
        </p:nvSpPr>
        <p:spPr>
          <a:xfrm>
            <a:off x="548640" y="4910328"/>
            <a:ext cx="11064240" cy="749808"/>
          </a:xfrm>
          <a:prstGeom prst="roundRect">
            <a:avLst>
              <a:gd name="adj" fmla="val 14634"/>
            </a:avLst>
          </a:prstGeom>
          <a:solidFill>
            <a:schemeClr val="bg2">
              <a:alpha val="88000"/>
            </a:schemeClr>
          </a:solidFill>
          <a:ln w="22225">
            <a:solidFill>
              <a:schemeClr val="accent2">
                <a:alpha val="90000"/>
              </a:scheme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1520" y="4910328"/>
            <a:ext cx="1005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6"/>
                </a:solidFill>
              </a:rPr>
              <a:t>★★★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1828800" y="4910328"/>
            <a:ext cx="5852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No post de id 4, traga cada comentário com o nome de quem comentou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7772400" y="4910328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dica: comments { user { name } }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Console: localhost:8080/console (aba API)   ·   Playground do Vue: localhost:8081/playground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858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 txBox="1"/>
          <p:nvPr>
            <p:ph idx="101" type="title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Quiz rápido (2 minutos)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6"/>
                </a:solidFill>
              </a:rPr>
              <a:t>DISCUTAM EM DUPLAS</a:t>
            </a:r>
            <a:endParaRPr lang="en-US" sz="1200" dirty="0"/>
          </a:p>
        </p:txBody>
      </p:sp>
      <p:sp>
        <p:nvSpPr>
          <p:cNvPr id="4" name="card"/>
          <p:cNvSpPr/>
          <p:nvPr/>
        </p:nvSpPr>
        <p:spPr>
          <a:xfrm>
            <a:off x="548640" y="1554480"/>
            <a:ext cx="5440680" cy="2148840"/>
          </a:xfrm>
          <a:prstGeom prst="roundRect">
            <a:avLst>
              <a:gd name="adj" fmla="val 5106"/>
            </a:avLst>
          </a:prstGeom>
          <a:solidFill>
            <a:schemeClr val="bg2">
              <a:alpha val="88000"/>
            </a:schemeClr>
          </a:solidFill>
          <a:ln w="22225">
            <a:solidFill>
              <a:schemeClr val="accent6">
                <a:alpha val="90000"/>
              </a:schemeClr>
            </a:solidFill>
            <a:prstDash val="solid"/>
          </a:ln>
        </p:spPr>
      </p:sp>
      <p:sp>
        <p:nvSpPr>
          <p:cNvPr id="5" name="badge"/>
          <p:cNvSpPr/>
          <p:nvPr/>
        </p:nvSpPr>
        <p:spPr>
          <a:xfrm>
            <a:off x="777240" y="1783080"/>
            <a:ext cx="502920" cy="502920"/>
          </a:xfrm>
          <a:prstGeom prst="ellipse">
            <a:avLst/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737360"/>
            <a:ext cx="4297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O perfil do Noah precisou de 5 chamadas REST. Quantas chamadas HTTP faz a versão GraphQL?</a:t>
            </a:r>
            <a:endParaRPr lang="en-US" sz="1900" dirty="0"/>
          </a:p>
        </p:txBody>
      </p:sp>
      <p:sp>
        <p:nvSpPr>
          <p:cNvPr id="8" name="card"/>
          <p:cNvSpPr/>
          <p:nvPr/>
        </p:nvSpPr>
        <p:spPr>
          <a:xfrm>
            <a:off x="6172200" y="1554480"/>
            <a:ext cx="5440680" cy="2148840"/>
          </a:xfrm>
          <a:prstGeom prst="roundRect">
            <a:avLst>
              <a:gd name="adj" fmla="val 5106"/>
            </a:avLst>
          </a:prstGeom>
          <a:solidFill>
            <a:schemeClr val="bg2">
              <a:alpha val="88000"/>
            </a:schemeClr>
          </a:solidFill>
          <a:ln w="22225">
            <a:solidFill>
              <a:schemeClr val="accent6">
                <a:alpha val="90000"/>
              </a:schemeClr>
            </a:solidFill>
            <a:prstDash val="solid"/>
          </a:ln>
        </p:spPr>
      </p:sp>
      <p:sp>
        <p:nvSpPr>
          <p:cNvPr id="9" name="badge"/>
          <p:cNvSpPr/>
          <p:nvPr/>
        </p:nvSpPr>
        <p:spPr>
          <a:xfrm>
            <a:off x="6400800" y="1783080"/>
            <a:ext cx="502920" cy="502920"/>
          </a:xfrm>
          <a:prstGeom prst="ellipse">
            <a:avLst/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132320" y="1737360"/>
            <a:ext cx="4297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O campo bio: String (sem !) pode vir null?</a:t>
            </a:r>
            <a:endParaRPr lang="en-US" sz="1900" dirty="0"/>
          </a:p>
        </p:txBody>
      </p:sp>
      <p:sp>
        <p:nvSpPr>
          <p:cNvPr id="12" name="card"/>
          <p:cNvSpPr/>
          <p:nvPr/>
        </p:nvSpPr>
        <p:spPr>
          <a:xfrm>
            <a:off x="548640" y="3886200"/>
            <a:ext cx="5440680" cy="2148840"/>
          </a:xfrm>
          <a:prstGeom prst="roundRect">
            <a:avLst>
              <a:gd name="adj" fmla="val 5106"/>
            </a:avLst>
          </a:prstGeom>
          <a:solidFill>
            <a:schemeClr val="bg2">
              <a:alpha val="88000"/>
            </a:schemeClr>
          </a:solidFill>
          <a:ln w="22225">
            <a:solidFill>
              <a:schemeClr val="accent6">
                <a:alpha val="90000"/>
              </a:schemeClr>
            </a:solidFill>
            <a:prstDash val="solid"/>
          </a:ln>
        </p:spPr>
      </p:sp>
      <p:sp>
        <p:nvSpPr>
          <p:cNvPr id="13" name="badge"/>
          <p:cNvSpPr/>
          <p:nvPr/>
        </p:nvSpPr>
        <p:spPr>
          <a:xfrm>
            <a:off x="777240" y="4114800"/>
            <a:ext cx="502920" cy="502920"/>
          </a:xfrm>
          <a:prstGeom prst="ellipse">
            <a:avLst/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4114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508760" y="4069080"/>
            <a:ext cx="4297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A resposta veio com HTTP 200 e um campo errors. Deu certo?</a:t>
            </a:r>
            <a:endParaRPr lang="en-US" sz="1900" dirty="0"/>
          </a:p>
        </p:txBody>
      </p:sp>
      <p:sp>
        <p:nvSpPr>
          <p:cNvPr id="16" name="card"/>
          <p:cNvSpPr/>
          <p:nvPr/>
        </p:nvSpPr>
        <p:spPr>
          <a:xfrm>
            <a:off x="6172200" y="3886200"/>
            <a:ext cx="5440680" cy="2148840"/>
          </a:xfrm>
          <a:prstGeom prst="roundRect">
            <a:avLst>
              <a:gd name="adj" fmla="val 5106"/>
            </a:avLst>
          </a:prstGeom>
          <a:solidFill>
            <a:schemeClr val="bg2">
              <a:alpha val="88000"/>
            </a:schemeClr>
          </a:solidFill>
          <a:ln w="22225">
            <a:solidFill>
              <a:schemeClr val="accent6">
                <a:alpha val="90000"/>
              </a:schemeClr>
            </a:solidFill>
            <a:prstDash val="solid"/>
          </a:ln>
        </p:spPr>
      </p:sp>
      <p:sp>
        <p:nvSpPr>
          <p:cNvPr id="17" name="badge"/>
          <p:cNvSpPr/>
          <p:nvPr/>
        </p:nvSpPr>
        <p:spPr>
          <a:xfrm>
            <a:off x="6400800" y="4114800"/>
            <a:ext cx="502920" cy="502920"/>
          </a:xfrm>
          <a:prstGeom prst="ellipse">
            <a:avLst/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0" y="4114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132320" y="4069080"/>
            <a:ext cx="4297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Para apagar um post, uso query ou mutation?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858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 txBox="1"/>
          <p:nvPr>
            <p:ph idx="101" type="title" hasCustomPrompt="1"/>
          </p:nvPr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Respostas do quiz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6"/>
                </a:solidFill>
              </a:rPr>
              <a:t>CONFIRA</a:t>
            </a:r>
            <a:endParaRPr lang="en-US" sz="1200" dirty="0"/>
          </a:p>
        </p:txBody>
      </p:sp>
      <p:sp>
        <p:nvSpPr>
          <p:cNvPr id="4" name="card"/>
          <p:cNvSpPr/>
          <p:nvPr/>
        </p:nvSpPr>
        <p:spPr>
          <a:xfrm>
            <a:off x="548640" y="1554480"/>
            <a:ext cx="11064240" cy="1005840"/>
          </a:xfrm>
          <a:prstGeom prst="roundRect">
            <a:avLst>
              <a:gd name="adj" fmla="val 10909"/>
            </a:avLst>
          </a:prstGeom>
          <a:solidFill>
            <a:schemeClr val="bg2">
              <a:alpha val="88000"/>
            </a:schemeClr>
          </a:solidFill>
          <a:ln w="22225">
            <a:solidFill>
              <a:schemeClr val="accent4">
                <a:alpha val="90000"/>
              </a:schemeClr>
            </a:solidFill>
            <a:prstDash val="solid"/>
          </a:ln>
        </p:spPr>
      </p:sp>
      <p:sp>
        <p:nvSpPr>
          <p:cNvPr id="5" name="badge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chemeClr val="accent4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55448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4"/>
                </a:solidFill>
              </a:rPr>
              <a:t>Uma.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4754880" y="1554480"/>
            <a:ext cx="6675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Um único POST com a query aninhada traz usuário, posts e comentários.</a:t>
            </a:r>
            <a:endParaRPr lang="en-US" sz="1600" dirty="0"/>
          </a:p>
        </p:txBody>
      </p:sp>
      <p:sp>
        <p:nvSpPr>
          <p:cNvPr id="9" name="card"/>
          <p:cNvSpPr/>
          <p:nvPr/>
        </p:nvSpPr>
        <p:spPr>
          <a:xfrm>
            <a:off x="548640" y="2697480"/>
            <a:ext cx="11064240" cy="1005840"/>
          </a:xfrm>
          <a:prstGeom prst="roundRect">
            <a:avLst>
              <a:gd name="adj" fmla="val 10909"/>
            </a:avLst>
          </a:prstGeom>
          <a:solidFill>
            <a:schemeClr val="bg2">
              <a:alpha val="88000"/>
            </a:schemeClr>
          </a:solidFill>
          <a:ln w="22225">
            <a:solidFill>
              <a:schemeClr val="accent4">
                <a:alpha val="90000"/>
              </a:schemeClr>
            </a:solidFill>
            <a:prstDash val="solid"/>
          </a:ln>
        </p:spPr>
      </p:sp>
      <p:sp>
        <p:nvSpPr>
          <p:cNvPr id="10" name="badge"/>
          <p:cNvSpPr/>
          <p:nvPr/>
        </p:nvSpPr>
        <p:spPr>
          <a:xfrm>
            <a:off x="777240" y="2971800"/>
            <a:ext cx="457200" cy="457200"/>
          </a:xfrm>
          <a:prstGeom prst="ellipse">
            <a:avLst/>
          </a:prstGeom>
          <a:solidFill>
            <a:schemeClr val="accent4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2971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463040" y="269748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4"/>
                </a:solidFill>
              </a:rPr>
              <a:t>Sim.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4754880" y="2697480"/>
            <a:ext cx="6675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Sem ! o campo é opcional. Com ! (como name: String!) nunca vem null.</a:t>
            </a:r>
            <a:endParaRPr lang="en-US" sz="1600" dirty="0"/>
          </a:p>
        </p:txBody>
      </p:sp>
      <p:sp>
        <p:nvSpPr>
          <p:cNvPr id="14" name="card"/>
          <p:cNvSpPr/>
          <p:nvPr/>
        </p:nvSpPr>
        <p:spPr>
          <a:xfrm>
            <a:off x="548640" y="3840480"/>
            <a:ext cx="11064240" cy="1005840"/>
          </a:xfrm>
          <a:prstGeom prst="roundRect">
            <a:avLst>
              <a:gd name="adj" fmla="val 10909"/>
            </a:avLst>
          </a:prstGeom>
          <a:solidFill>
            <a:schemeClr val="bg2">
              <a:alpha val="88000"/>
            </a:schemeClr>
          </a:solidFill>
          <a:ln w="22225">
            <a:solidFill>
              <a:schemeClr val="accent4">
                <a:alpha val="90000"/>
              </a:schemeClr>
            </a:solidFill>
            <a:prstDash val="solid"/>
          </a:ln>
        </p:spPr>
      </p:sp>
      <p:sp>
        <p:nvSpPr>
          <p:cNvPr id="15" name="badge"/>
          <p:cNvSpPr/>
          <p:nvPr/>
        </p:nvSpPr>
        <p:spPr>
          <a:xfrm>
            <a:off x="777240" y="4114800"/>
            <a:ext cx="457200" cy="457200"/>
          </a:xfrm>
          <a:prstGeom prst="ellipse">
            <a:avLst/>
          </a:prstGeom>
          <a:solidFill>
            <a:schemeClr val="accent4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384048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4"/>
                </a:solidFill>
              </a:rPr>
              <a:t>Não necessariamente.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4754880" y="3840480"/>
            <a:ext cx="6675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Olhe o campo errors: o GraphQL responde 200 até com erro de validação.</a:t>
            </a:r>
            <a:endParaRPr lang="en-US" sz="1600" dirty="0"/>
          </a:p>
        </p:txBody>
      </p:sp>
      <p:sp>
        <p:nvSpPr>
          <p:cNvPr id="19" name="card"/>
          <p:cNvSpPr/>
          <p:nvPr/>
        </p:nvSpPr>
        <p:spPr>
          <a:xfrm>
            <a:off x="548640" y="4983480"/>
            <a:ext cx="11064240" cy="1005840"/>
          </a:xfrm>
          <a:prstGeom prst="roundRect">
            <a:avLst>
              <a:gd name="adj" fmla="val 10909"/>
            </a:avLst>
          </a:prstGeom>
          <a:solidFill>
            <a:schemeClr val="bg2">
              <a:alpha val="88000"/>
            </a:schemeClr>
          </a:solidFill>
          <a:ln w="22225">
            <a:solidFill>
              <a:schemeClr val="accent4">
                <a:alpha val="90000"/>
              </a:schemeClr>
            </a:solidFill>
            <a:prstDash val="solid"/>
          </a:ln>
        </p:spPr>
      </p:sp>
      <p:sp>
        <p:nvSpPr>
          <p:cNvPr id="20" name="badge"/>
          <p:cNvSpPr/>
          <p:nvPr/>
        </p:nvSpPr>
        <p:spPr>
          <a:xfrm>
            <a:off x="777240" y="5257800"/>
            <a:ext cx="457200" cy="457200"/>
          </a:xfrm>
          <a:prstGeom prst="ellipse">
            <a:avLst/>
          </a:prstGeom>
          <a:solidFill>
            <a:schemeClr val="accent4"/>
          </a:solidFill>
          <a:ln w="6350">
            <a:solidFill>
              <a:schemeClr val="accent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7240" y="5257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463040" y="498348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4"/>
                </a:solidFill>
              </a:rPr>
              <a:t>Mutation.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4754880" y="4983480"/>
            <a:ext cx="6675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Query só lê. Para criar, editar ou apagar use mutation (delete_posts_by_pk).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858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idx="100" type="title" hasCustomPrompt="1"/>
          </p:nvPr>
        </p:nvSpPr>
        <p:spPr>
          <a:xfrm>
            <a:off x="731520" y="2148840"/>
            <a:ext cx="6035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tx1"/>
                </a:solidFill>
              </a:rPr>
              <a:t>Peça exatamente o que precisa.</a:t>
            </a:r>
            <a:endParaRPr lang="en-US" sz="5400" dirty="0"/>
          </a:p>
        </p:txBody>
      </p:sp>
      <p:sp>
        <p:nvSpPr>
          <p:cNvPr id="3" name="Text 0"/>
          <p:cNvSpPr txBox="1"/>
          <p:nvPr>
            <p:ph idx="101" type="body" hasCustomPrompt="1"/>
          </p:nvPr>
        </p:nvSpPr>
        <p:spPr>
          <a:xfrm>
            <a:off x="731520" y="4069080"/>
            <a:ext cx="5669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Receba exatamente o que pediu. O resto é treino.</a:t>
            </a:r>
            <a:endParaRPr lang="en-US" sz="2000" dirty="0"/>
          </a:p>
        </p:txBody>
      </p:sp>
      <p:sp>
        <p:nvSpPr>
          <p:cNvPr id="4" name="pill"/>
          <p:cNvSpPr/>
          <p:nvPr/>
        </p:nvSpPr>
        <p:spPr>
          <a:xfrm>
            <a:off x="731520" y="1600200"/>
            <a:ext cx="2011680" cy="310896"/>
          </a:xfrm>
          <a:prstGeom prst="roundRect">
            <a:avLst>
              <a:gd name="adj" fmla="val 50000"/>
            </a:avLst>
          </a:prstGeom>
          <a:solidFill>
            <a:schemeClr val="accent3">
              <a:alpha val="20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60020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PARA CONTINUAR</a:t>
            </a:r>
            <a:endParaRPr lang="en-US" sz="1200" dirty="0"/>
          </a:p>
        </p:txBody>
      </p:sp>
      <p:sp>
        <p:nvSpPr>
          <p:cNvPr id="6" name="card"/>
          <p:cNvSpPr/>
          <p:nvPr/>
        </p:nvSpPr>
        <p:spPr>
          <a:xfrm>
            <a:off x="7406640" y="1554480"/>
            <a:ext cx="4206240" cy="1005840"/>
          </a:xfrm>
          <a:prstGeom prst="roundRect">
            <a:avLst>
              <a:gd name="adj" fmla="val 10909"/>
            </a:avLst>
          </a:prstGeom>
          <a:solidFill>
            <a:schemeClr val="bg2">
              <a:alpha val="88000"/>
            </a:schemeClr>
          </a:solidFill>
          <a:ln w="22225">
            <a:solidFill>
              <a:schemeClr val="accent3">
                <a:alpha val="90000"/>
              </a:scheme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635240" y="16916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graphql.org/learn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7635240" y="212140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o guia oficial, em inglês</a:t>
            </a:r>
            <a:endParaRPr lang="en-US" sz="1400" dirty="0"/>
          </a:p>
        </p:txBody>
      </p:sp>
      <p:sp>
        <p:nvSpPr>
          <p:cNvPr id="9" name="card"/>
          <p:cNvSpPr/>
          <p:nvPr/>
        </p:nvSpPr>
        <p:spPr>
          <a:xfrm>
            <a:off x="7406640" y="2743200"/>
            <a:ext cx="4206240" cy="1005840"/>
          </a:xfrm>
          <a:prstGeom prst="roundRect">
            <a:avLst>
              <a:gd name="adj" fmla="val 10909"/>
            </a:avLst>
          </a:prstGeom>
          <a:solidFill>
            <a:schemeClr val="bg2">
              <a:alpha val="88000"/>
            </a:schemeClr>
          </a:solidFill>
          <a:ln w="22225">
            <a:solidFill>
              <a:schemeClr val="accent2">
                <a:alpha val="90000"/>
              </a:scheme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635240" y="28803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hasura.io/docs/2.0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7635240" y="331012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documentação do Hasura v2</a:t>
            </a:r>
            <a:endParaRPr lang="en-US" sz="1400" dirty="0"/>
          </a:p>
        </p:txBody>
      </p:sp>
      <p:sp>
        <p:nvSpPr>
          <p:cNvPr id="12" name="card"/>
          <p:cNvSpPr/>
          <p:nvPr/>
        </p:nvSpPr>
        <p:spPr>
          <a:xfrm>
            <a:off x="7406640" y="3931920"/>
            <a:ext cx="4206240" cy="1005840"/>
          </a:xfrm>
          <a:prstGeom prst="roundRect">
            <a:avLst>
              <a:gd name="adj" fmla="val 10909"/>
            </a:avLst>
          </a:prstGeom>
          <a:solidFill>
            <a:schemeClr val="bg2">
              <a:alpha val="88000"/>
            </a:schemeClr>
          </a:solidFill>
          <a:ln w="22225">
            <a:solidFill>
              <a:schemeClr val="accent4">
                <a:alpha val="90000"/>
              </a:scheme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635240" y="40690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pasta graphqlab/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7635240" y="449884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seu lab: docker compose up -d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raphQLab">
  <a:themeElements>
    <a:clrScheme name="GraphQLab">
      <a:dk1>
        <a:srgbClr val="EAF0FF"/>
      </a:dk1>
      <a:lt1>
        <a:srgbClr val="0B1020"/>
      </a:lt1>
      <a:dk2>
        <a:srgbClr val="9AA7C7"/>
      </a:dk2>
      <a:lt2>
        <a:srgbClr val="151B31"/>
      </a:lt2>
      <a:accent1>
        <a:srgbClr val="3B9EFF"/>
      </a:accent1>
      <a:accent2>
        <a:srgbClr val="FF2D95"/>
      </a:accent2>
      <a:accent3>
        <a:srgbClr val="22D3EE"/>
      </a:accent3>
      <a:accent4>
        <a:srgbClr val="34D399"/>
      </a:accent4>
      <a:accent5>
        <a:srgbClr val="FF5C5C"/>
      </a:accent5>
      <a:accent6>
        <a:srgbClr val="FBBF24"/>
      </a:accent6>
      <a:hlink>
        <a:srgbClr val="22D3EE"/>
      </a:hlink>
      <a:folHlink>
        <a:srgbClr val="9AA7C7"/>
      </a:folHlink>
    </a:clrScheme>
    <a:fontScheme name="GraphQLab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GraphQL na prática</dc:title>
  <dc:subject>PptxGenJS Presentation</dc:subject>
  <dc:creator>graphqlab</dc:creator>
  <cp:lastModifiedBy>graphqlab</cp:lastModifiedBy>
  <cp:revision>1</cp:revision>
  <dcterms:created xsi:type="dcterms:W3CDTF">2026-10-26T23:26:05Z</dcterms:created>
  <dcterms:modified xsi:type="dcterms:W3CDTF">2026-10-26T23:26:05Z</dcterms:modified>
</cp:coreProperties>
</file>